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8" r:id="rId3"/>
    <p:sldId id="259" r:id="rId4"/>
    <p:sldId id="260" r:id="rId5"/>
    <p:sldId id="261" r:id="rId6"/>
    <p:sldId id="262"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6018" autoAdjust="0"/>
  </p:normalViewPr>
  <p:slideViewPr>
    <p:cSldViewPr snapToGrid="0" snapToObjects="1">
      <p:cViewPr varScale="1">
        <p:scale>
          <a:sx n="58" d="100"/>
          <a:sy n="58" d="100"/>
        </p:scale>
        <p:origin x="80" y="53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8085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Tasking. Our group number is FYP-26-S2-35, This video will show you how to use 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Tasking has six roles. These four on the left form a strict hierarchy, where each level can do everything the level below it can, and more. Owner covers the whole company. Partner is nearly identical. Manager is limited to their own department. Employee sees only their own work.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two on the right sit outside that chain. Casual Workers see only the jobs they personally accepted, and Guests see only the public job board.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One rule runs through the entire system is that work is always assigned exactly one level down.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will demonstrate four of them: Owner, Manager, Employee and Casual Worker.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Partner is skipped, because it is about ninety-nine percent identical to Owner.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Guest is skipped, because everything it can do is already covered by the Casual Worker.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Every role shares the same interface. Only two things change: the sidebar color, and how many menu items it has.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Owner has a white sidebar with eight items. Manager is navy blue with five. Employee is dark green with four. Casual Worker is white again, but with four items comparing to Owner.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system has eight modules, and they depend on each other in this order.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register and set up the company first. </a:t>
            </a:r>
          </a:p>
          <a:p>
            <a:r>
              <a:rPr lang="en-US" sz="1200" b="0" i="0" kern="1200" dirty="0">
                <a:solidFill>
                  <a:schemeClr val="tx1"/>
                </a:solidFill>
                <a:effectLst/>
                <a:latin typeface="+mn-lt"/>
                <a:ea typeface="+mn-ea"/>
                <a:cs typeface="+mn-cs"/>
              </a:rPr>
              <a:t>Recruitment brings in casual workers. </a:t>
            </a:r>
          </a:p>
          <a:p>
            <a:r>
              <a:rPr lang="en-US" sz="1200" b="0" i="0" kern="1200" dirty="0">
                <a:solidFill>
                  <a:schemeClr val="tx1"/>
                </a:solidFill>
                <a:effectLst/>
                <a:latin typeface="+mn-lt"/>
                <a:ea typeface="+mn-ea"/>
                <a:cs typeface="+mn-cs"/>
              </a:rPr>
              <a:t>Shifts decide who works when. </a:t>
            </a:r>
          </a:p>
          <a:p>
            <a:r>
              <a:rPr lang="en-US" sz="1200" b="0" i="0" kern="1200" dirty="0">
                <a:solidFill>
                  <a:schemeClr val="tx1"/>
                </a:solidFill>
                <a:effectLst/>
                <a:latin typeface="+mn-lt"/>
                <a:ea typeface="+mn-ea"/>
                <a:cs typeface="+mn-cs"/>
              </a:rPr>
              <a:t>Tasks and attendance both sit on top of shifts. </a:t>
            </a:r>
          </a:p>
          <a:p>
            <a:r>
              <a:rPr lang="en-US" sz="1200" b="0" i="0" kern="1200" dirty="0">
                <a:solidFill>
                  <a:schemeClr val="tx1"/>
                </a:solidFill>
                <a:effectLst/>
                <a:latin typeface="+mn-lt"/>
                <a:ea typeface="+mn-ea"/>
                <a:cs typeface="+mn-cs"/>
              </a:rPr>
              <a:t>Report reads from everything above it. </a:t>
            </a:r>
          </a:p>
          <a:p>
            <a:r>
              <a:rPr lang="en-US" sz="1200" b="0" i="0" kern="1200" dirty="0">
                <a:solidFill>
                  <a:schemeClr val="tx1"/>
                </a:solidFill>
                <a:effectLst/>
                <a:latin typeface="+mn-lt"/>
                <a:ea typeface="+mn-ea"/>
                <a:cs typeface="+mn-cs"/>
              </a:rPr>
              <a:t>Communication is independent, and runs across all of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video has two parts. Part one walks through the features module by module, so you learn each one on its own.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Part two follows one real business flow across four roles, so you can see how they hand off work to each other.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Timestamps for every section are listed here, so feel free to jump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97316"/>
          </a:solidFill>
          <a:ln/>
        </p:spPr>
      </p:sp>
      <p:sp>
        <p:nvSpPr>
          <p:cNvPr id="5" name="Text 3"/>
          <p:cNvSpPr/>
          <p:nvPr/>
        </p:nvSpPr>
        <p:spPr>
          <a:xfrm>
            <a:off x="1051560" y="2542032"/>
            <a:ext cx="10058400" cy="1051560"/>
          </a:xfrm>
          <a:prstGeom prst="rect">
            <a:avLst/>
          </a:prstGeom>
          <a:noFill/>
          <a:ln/>
        </p:spPr>
        <p:txBody>
          <a:bodyPr wrap="square" rtlCol="0" anchor="ctr"/>
          <a:lstStyle/>
          <a:p>
            <a:pPr marL="0" indent="0">
              <a:buNone/>
            </a:pPr>
            <a:r>
              <a:rPr lang="en-US" sz="6400" b="1" dirty="0">
                <a:solidFill>
                  <a:srgbClr val="18181B"/>
                </a:solidFill>
                <a:latin typeface="Segoe UI" pitchFamily="34" charset="0"/>
                <a:ea typeface="Segoe UI" pitchFamily="34" charset="-122"/>
                <a:cs typeface="Segoe UI" pitchFamily="34" charset="-120"/>
              </a:rPr>
              <a:t>Tasking</a:t>
            </a:r>
            <a:endParaRPr lang="en-US" sz="6400" dirty="0"/>
          </a:p>
        </p:txBody>
      </p:sp>
      <p:sp>
        <p:nvSpPr>
          <p:cNvPr id="6" name="Text 4"/>
          <p:cNvSpPr/>
          <p:nvPr/>
        </p:nvSpPr>
        <p:spPr>
          <a:xfrm>
            <a:off x="1078992" y="3611880"/>
            <a:ext cx="10058400" cy="411480"/>
          </a:xfrm>
          <a:prstGeom prst="rect">
            <a:avLst/>
          </a:prstGeom>
          <a:noFill/>
          <a:ln/>
        </p:spPr>
        <p:txBody>
          <a:bodyPr wrap="square" rtlCol="0" anchor="ctr"/>
          <a:lstStyle/>
          <a:p>
            <a:pPr marL="0" indent="0">
              <a:buNone/>
            </a:pPr>
            <a:r>
              <a:rPr lang="en-US" sz="2000" dirty="0">
                <a:solidFill>
                  <a:srgbClr val="374151"/>
                </a:solidFill>
                <a:latin typeface="Segoe UI" pitchFamily="34" charset="0"/>
                <a:ea typeface="Segoe UI" pitchFamily="34" charset="-122"/>
                <a:cs typeface="Segoe UI" pitchFamily="34" charset="-120"/>
              </a:rPr>
              <a:t>Smart Task Allocation System for Small and Medium Enterprises</a:t>
            </a:r>
            <a:endParaRPr lang="en-US" sz="2000" dirty="0"/>
          </a:p>
        </p:txBody>
      </p:sp>
      <p:sp>
        <p:nvSpPr>
          <p:cNvPr id="7" name="Shape 5"/>
          <p:cNvSpPr/>
          <p:nvPr/>
        </p:nvSpPr>
        <p:spPr>
          <a:xfrm>
            <a:off x="1097280" y="4224528"/>
            <a:ext cx="1371600" cy="41148"/>
          </a:xfrm>
          <a:prstGeom prst="rect">
            <a:avLst/>
          </a:prstGeom>
          <a:solidFill>
            <a:srgbClr val="F97316"/>
          </a:solidFill>
          <a:ln/>
        </p:spPr>
      </p:sp>
      <p:sp>
        <p:nvSpPr>
          <p:cNvPr id="8" name="Text 6"/>
          <p:cNvSpPr/>
          <p:nvPr/>
        </p:nvSpPr>
        <p:spPr>
          <a:xfrm>
            <a:off x="1078992" y="4407408"/>
            <a:ext cx="10058400" cy="365760"/>
          </a:xfrm>
          <a:prstGeom prst="rect">
            <a:avLst/>
          </a:prstGeom>
          <a:noFill/>
          <a:ln/>
        </p:spPr>
        <p:txBody>
          <a:bodyPr wrap="square" rtlCol="0" anchor="ctr"/>
          <a:lstStyle/>
          <a:p>
            <a:pPr marL="0" indent="0">
              <a:buNone/>
            </a:pPr>
            <a:r>
              <a:rPr lang="en-US" sz="1500" dirty="0">
                <a:solidFill>
                  <a:srgbClr val="6B7280"/>
                </a:solidFill>
                <a:latin typeface="Segoe UI" pitchFamily="34" charset="0"/>
                <a:ea typeface="Segoe UI" pitchFamily="34" charset="-122"/>
                <a:cs typeface="Segoe UI" pitchFamily="34" charset="-120"/>
              </a:rPr>
              <a:t>User Tutoria</a:t>
            </a:r>
            <a:r>
              <a:rPr lang="en-US" altLang="zh-CN" sz="1500" dirty="0">
                <a:solidFill>
                  <a:srgbClr val="6B7280"/>
                </a:solidFill>
                <a:latin typeface="Segoe UI" pitchFamily="34" charset="0"/>
                <a:ea typeface="Segoe UI" pitchFamily="34" charset="-122"/>
                <a:cs typeface="Segoe UI" pitchFamily="34" charset="-120"/>
              </a:rPr>
              <a:t>l</a:t>
            </a:r>
            <a:endParaRPr lang="en-US" sz="1500" dirty="0"/>
          </a:p>
        </p:txBody>
      </p:sp>
      <p:sp>
        <p:nvSpPr>
          <p:cNvPr id="9" name="Shape 7"/>
          <p:cNvSpPr/>
          <p:nvPr/>
        </p:nvSpPr>
        <p:spPr>
          <a:xfrm>
            <a:off x="1097280" y="5577840"/>
            <a:ext cx="9966960" cy="10973"/>
          </a:xfrm>
          <a:prstGeom prst="rect">
            <a:avLst/>
          </a:prstGeom>
          <a:solidFill>
            <a:srgbClr val="E5E7EB"/>
          </a:solidFill>
          <a:ln/>
        </p:spPr>
      </p:sp>
      <p:sp>
        <p:nvSpPr>
          <p:cNvPr id="10" name="Text 8"/>
          <p:cNvSpPr/>
          <p:nvPr/>
        </p:nvSpPr>
        <p:spPr>
          <a:xfrm>
            <a:off x="1078992" y="5779008"/>
            <a:ext cx="10058400" cy="365760"/>
          </a:xfrm>
          <a:prstGeom prst="rect">
            <a:avLst/>
          </a:prstGeom>
          <a:noFill/>
          <a:ln/>
        </p:spPr>
        <p:txBody>
          <a:bodyPr wrap="square" rtlCol="0" anchor="ctr"/>
          <a:lstStyle/>
          <a:p>
            <a:pPr marL="0" indent="0">
              <a:buNone/>
            </a:pPr>
            <a:r>
              <a:rPr lang="en-US" sz="1200" dirty="0">
                <a:solidFill>
                  <a:srgbClr val="9CA3AF"/>
                </a:solidFill>
                <a:latin typeface="Segoe UI" pitchFamily="34" charset="0"/>
                <a:ea typeface="Segoe UI" pitchFamily="34" charset="-122"/>
                <a:cs typeface="Segoe UI" pitchFamily="34" charset="-120"/>
              </a:rPr>
              <a:t>Topic Number  </a:t>
            </a:r>
            <a:r>
              <a:rPr lang="en-US" sz="1300" b="1" dirty="0">
                <a:solidFill>
                  <a:srgbClr val="18181B"/>
                </a:solidFill>
                <a:latin typeface="Segoe UI" pitchFamily="34" charset="0"/>
                <a:ea typeface="Segoe UI" pitchFamily="34" charset="-122"/>
                <a:cs typeface="Segoe UI" pitchFamily="34" charset="-120"/>
              </a:rPr>
              <a:t>CSIT-26-S2-04</a:t>
            </a:r>
            <a:r>
              <a:rPr lang="en-US" sz="1200" dirty="0">
                <a:solidFill>
                  <a:srgbClr val="9CA3AF"/>
                </a:solidFill>
                <a:latin typeface="Segoe UI" pitchFamily="34" charset="0"/>
                <a:ea typeface="Segoe UI" pitchFamily="34" charset="-122"/>
                <a:cs typeface="Segoe UI" pitchFamily="34" charset="-120"/>
              </a:rPr>
              <a:t>          Group Number  </a:t>
            </a:r>
            <a:r>
              <a:rPr lang="en-US" sz="1300" b="1" dirty="0">
                <a:solidFill>
                  <a:srgbClr val="18181B"/>
                </a:solidFill>
                <a:latin typeface="Segoe UI" pitchFamily="34" charset="0"/>
                <a:ea typeface="Segoe UI" pitchFamily="34" charset="-122"/>
                <a:cs typeface="Segoe UI" pitchFamily="34" charset="-120"/>
              </a:rPr>
              <a:t>FYP-26-S2-35</a:t>
            </a:r>
            <a:endParaRPr lang="en-US" sz="1200" dirty="0"/>
          </a:p>
        </p:txBody>
      </p:sp>
      <p:pic>
        <p:nvPicPr>
          <p:cNvPr id="12" name="Picture 11">
            <a:extLst>
              <a:ext uri="{FF2B5EF4-FFF2-40B4-BE49-F238E27FC236}">
                <a16:creationId xmlns:a16="http://schemas.microsoft.com/office/drawing/2014/main" id="{43EAB6BC-A62B-6C34-C5C7-5F1B2C6B12D6}"/>
              </a:ext>
            </a:extLst>
          </p:cNvPr>
          <p:cNvPicPr>
            <a:picLocks noChangeAspect="1"/>
          </p:cNvPicPr>
          <p:nvPr/>
        </p:nvPicPr>
        <p:blipFill>
          <a:blip r:embed="rId3"/>
          <a:srcRect l="18600" t="35676" r="64569" b="40405"/>
          <a:stretch>
            <a:fillRect/>
          </a:stretch>
        </p:blipFill>
        <p:spPr>
          <a:xfrm>
            <a:off x="1051560" y="1424303"/>
            <a:ext cx="881412" cy="835048"/>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566928"/>
            <a:ext cx="384048" cy="68580"/>
          </a:xfrm>
          <a:prstGeom prst="rect">
            <a:avLst/>
          </a:prstGeom>
          <a:solidFill>
            <a:srgbClr val="F97316"/>
          </a:solidFill>
          <a:ln/>
        </p:spPr>
      </p:sp>
      <p:sp>
        <p:nvSpPr>
          <p:cNvPr id="3" name="Text 1"/>
          <p:cNvSpPr/>
          <p:nvPr/>
        </p:nvSpPr>
        <p:spPr>
          <a:xfrm>
            <a:off x="685800" y="731520"/>
            <a:ext cx="10789920" cy="274320"/>
          </a:xfrm>
          <a:prstGeom prst="rect">
            <a:avLst/>
          </a:prstGeom>
          <a:noFill/>
          <a:ln/>
        </p:spPr>
        <p:txBody>
          <a:bodyPr wrap="square" rtlCol="0" anchor="ctr"/>
          <a:lstStyle/>
          <a:p>
            <a:pPr marL="0" indent="0">
              <a:buNone/>
            </a:pPr>
            <a:r>
              <a:rPr lang="en-US" sz="1100" b="1" kern="0" spc="160" dirty="0">
                <a:solidFill>
                  <a:srgbClr val="9CA3AF"/>
                </a:solidFill>
                <a:latin typeface="Segoe UI" pitchFamily="34" charset="0"/>
                <a:ea typeface="Segoe UI" pitchFamily="34" charset="-122"/>
                <a:cs typeface="Segoe UI" pitchFamily="34" charset="-120"/>
              </a:rPr>
              <a:t>THE HIERARCHY</a:t>
            </a:r>
            <a:endParaRPr lang="en-US" sz="1100" dirty="0"/>
          </a:p>
        </p:txBody>
      </p:sp>
      <p:sp>
        <p:nvSpPr>
          <p:cNvPr id="4" name="Text 2"/>
          <p:cNvSpPr/>
          <p:nvPr/>
        </p:nvSpPr>
        <p:spPr>
          <a:xfrm>
            <a:off x="685800" y="1005840"/>
            <a:ext cx="10789920" cy="548640"/>
          </a:xfrm>
          <a:prstGeom prst="rect">
            <a:avLst/>
          </a:prstGeom>
          <a:noFill/>
          <a:ln/>
        </p:spPr>
        <p:txBody>
          <a:bodyPr wrap="square" rtlCol="0" anchor="ctr"/>
          <a:lstStyle/>
          <a:p>
            <a:pPr marL="0" indent="0">
              <a:buNone/>
            </a:pPr>
            <a:r>
              <a:rPr lang="en-US" sz="3000" b="1" dirty="0">
                <a:solidFill>
                  <a:srgbClr val="18181B"/>
                </a:solidFill>
                <a:latin typeface="Segoe UI" pitchFamily="34" charset="0"/>
                <a:ea typeface="Segoe UI" pitchFamily="34" charset="-122"/>
                <a:cs typeface="Segoe UI" pitchFamily="34" charset="-120"/>
              </a:rPr>
              <a:t>Roles and Permission Scope</a:t>
            </a:r>
            <a:endParaRPr lang="en-US" sz="3000" dirty="0"/>
          </a:p>
        </p:txBody>
      </p:sp>
      <p:sp>
        <p:nvSpPr>
          <p:cNvPr id="5" name="Text 3"/>
          <p:cNvSpPr/>
          <p:nvPr/>
        </p:nvSpPr>
        <p:spPr>
          <a:xfrm>
            <a:off x="713232" y="1755648"/>
            <a:ext cx="6583680" cy="256032"/>
          </a:xfrm>
          <a:prstGeom prst="rect">
            <a:avLst/>
          </a:prstGeom>
          <a:noFill/>
          <a:ln/>
        </p:spPr>
        <p:txBody>
          <a:bodyPr wrap="square" rtlCol="0" anchor="ctr"/>
          <a:lstStyle/>
          <a:p>
            <a:pPr marL="0" indent="0">
              <a:buNone/>
            </a:pPr>
            <a:r>
              <a:rPr lang="en-US" sz="1100" b="1" kern="0" spc="140" dirty="0">
                <a:solidFill>
                  <a:srgbClr val="9CA3AF"/>
                </a:solidFill>
                <a:latin typeface="Segoe UI" pitchFamily="34" charset="0"/>
                <a:ea typeface="Segoe UI" pitchFamily="34" charset="-122"/>
                <a:cs typeface="Segoe UI" pitchFamily="34" charset="-120"/>
              </a:rPr>
              <a:t>Internal Hierarchy</a:t>
            </a:r>
            <a:endParaRPr lang="en-US" sz="1100" dirty="0"/>
          </a:p>
        </p:txBody>
      </p:sp>
      <p:sp>
        <p:nvSpPr>
          <p:cNvPr id="6" name="Text 4"/>
          <p:cNvSpPr/>
          <p:nvPr/>
        </p:nvSpPr>
        <p:spPr>
          <a:xfrm>
            <a:off x="713232" y="1993392"/>
            <a:ext cx="6583680" cy="256032"/>
          </a:xfrm>
          <a:prstGeom prst="rect">
            <a:avLst/>
          </a:prstGeom>
          <a:noFill/>
          <a:ln/>
        </p:spPr>
        <p:txBody>
          <a:bodyPr wrap="square" rtlCol="0" anchor="ctr"/>
          <a:lstStyle/>
          <a:p>
            <a:pPr marL="0" indent="0">
              <a:buNone/>
            </a:pPr>
            <a:r>
              <a:rPr lang="en-US" sz="1200" i="1" dirty="0">
                <a:solidFill>
                  <a:srgbClr val="6B7280"/>
                </a:solidFill>
                <a:latin typeface="Segoe UI" pitchFamily="34" charset="0"/>
                <a:ea typeface="Segoe UI" pitchFamily="34" charset="-122"/>
                <a:cs typeface="Segoe UI" pitchFamily="34" charset="-120"/>
              </a:rPr>
              <a:t>Each level fully contains every level below it</a:t>
            </a:r>
            <a:endParaRPr lang="en-US" sz="1200" dirty="0"/>
          </a:p>
        </p:txBody>
      </p:sp>
      <p:sp>
        <p:nvSpPr>
          <p:cNvPr id="7" name="Shape 5"/>
          <p:cNvSpPr/>
          <p:nvPr/>
        </p:nvSpPr>
        <p:spPr>
          <a:xfrm>
            <a:off x="713232" y="2395728"/>
            <a:ext cx="6537960" cy="713232"/>
          </a:xfrm>
          <a:prstGeom prst="roundRect">
            <a:avLst>
              <a:gd name="adj" fmla="val 7692"/>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8" name="Shape 6"/>
          <p:cNvSpPr/>
          <p:nvPr/>
        </p:nvSpPr>
        <p:spPr>
          <a:xfrm>
            <a:off x="713232" y="2395728"/>
            <a:ext cx="68580" cy="713232"/>
          </a:xfrm>
          <a:prstGeom prst="rect">
            <a:avLst/>
          </a:prstGeom>
          <a:solidFill>
            <a:srgbClr val="F97316"/>
          </a:solidFill>
          <a:ln/>
        </p:spPr>
      </p:sp>
      <p:sp>
        <p:nvSpPr>
          <p:cNvPr id="9" name="Text 7"/>
          <p:cNvSpPr/>
          <p:nvPr/>
        </p:nvSpPr>
        <p:spPr>
          <a:xfrm>
            <a:off x="932688" y="2450592"/>
            <a:ext cx="1600200" cy="603504"/>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Owner</a:t>
            </a:r>
            <a:endParaRPr lang="en-US" sz="1700" dirty="0"/>
          </a:p>
        </p:txBody>
      </p:sp>
      <p:sp>
        <p:nvSpPr>
          <p:cNvPr id="10" name="Text 8"/>
          <p:cNvSpPr/>
          <p:nvPr/>
        </p:nvSpPr>
        <p:spPr>
          <a:xfrm>
            <a:off x="2514600" y="2450592"/>
            <a:ext cx="4617720" cy="603504"/>
          </a:xfrm>
          <a:prstGeom prst="rect">
            <a:avLst/>
          </a:prstGeom>
          <a:noFill/>
          <a:ln/>
        </p:spPr>
        <p:txBody>
          <a:bodyPr wrap="square" rtlCol="0" anchor="ctr"/>
          <a:lstStyle/>
          <a:p>
            <a:pPr marL="0" indent="0">
              <a:buNone/>
            </a:pPr>
            <a:r>
              <a:rPr lang="en-US" sz="1250" dirty="0">
                <a:solidFill>
                  <a:srgbClr val="6B7280"/>
                </a:solidFill>
                <a:latin typeface="Segoe UI" pitchFamily="34" charset="0"/>
                <a:ea typeface="Segoe UI" pitchFamily="34" charset="-122"/>
                <a:cs typeface="Segoe UI" pitchFamily="34" charset="-120"/>
              </a:rPr>
              <a:t>Entire company and all departments</a:t>
            </a:r>
            <a:endParaRPr lang="en-US" sz="1250" dirty="0"/>
          </a:p>
        </p:txBody>
      </p:sp>
      <p:sp>
        <p:nvSpPr>
          <p:cNvPr id="11" name="Text 9"/>
          <p:cNvSpPr/>
          <p:nvPr/>
        </p:nvSpPr>
        <p:spPr>
          <a:xfrm>
            <a:off x="841248" y="3118104"/>
            <a:ext cx="457200" cy="237744"/>
          </a:xfrm>
          <a:prstGeom prst="rect">
            <a:avLst/>
          </a:prstGeom>
          <a:noFill/>
          <a:ln/>
        </p:spPr>
        <p:txBody>
          <a:bodyPr wrap="square" rtlCol="0" anchor="ctr"/>
          <a:lstStyle/>
          <a:p>
            <a:pPr marL="0" indent="0" algn="ctr">
              <a:buNone/>
            </a:pPr>
            <a:r>
              <a:rPr lang="en-US" sz="1000" dirty="0">
                <a:solidFill>
                  <a:srgbClr val="FDBA74"/>
                </a:solidFill>
                <a:latin typeface="Segoe UI" pitchFamily="34" charset="0"/>
                <a:ea typeface="Segoe UI" pitchFamily="34" charset="-122"/>
                <a:cs typeface="Segoe UI" pitchFamily="34" charset="-120"/>
              </a:rPr>
              <a:t>▼</a:t>
            </a:r>
            <a:endParaRPr lang="en-US" sz="1000" dirty="0"/>
          </a:p>
        </p:txBody>
      </p:sp>
      <p:sp>
        <p:nvSpPr>
          <p:cNvPr id="12" name="Shape 10"/>
          <p:cNvSpPr/>
          <p:nvPr/>
        </p:nvSpPr>
        <p:spPr>
          <a:xfrm>
            <a:off x="713232" y="3364992"/>
            <a:ext cx="5715000" cy="713232"/>
          </a:xfrm>
          <a:prstGeom prst="roundRect">
            <a:avLst>
              <a:gd name="adj" fmla="val 7692"/>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13" name="Shape 11"/>
          <p:cNvSpPr/>
          <p:nvPr/>
        </p:nvSpPr>
        <p:spPr>
          <a:xfrm>
            <a:off x="713232" y="3364992"/>
            <a:ext cx="68580" cy="713232"/>
          </a:xfrm>
          <a:prstGeom prst="rect">
            <a:avLst/>
          </a:prstGeom>
          <a:solidFill>
            <a:srgbClr val="F97316"/>
          </a:solidFill>
          <a:ln/>
        </p:spPr>
      </p:sp>
      <p:sp>
        <p:nvSpPr>
          <p:cNvPr id="14" name="Text 12"/>
          <p:cNvSpPr/>
          <p:nvPr/>
        </p:nvSpPr>
        <p:spPr>
          <a:xfrm>
            <a:off x="932688" y="3419856"/>
            <a:ext cx="1600200" cy="603504"/>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Partner</a:t>
            </a:r>
            <a:endParaRPr lang="en-US" sz="1700" dirty="0"/>
          </a:p>
        </p:txBody>
      </p:sp>
      <p:sp>
        <p:nvSpPr>
          <p:cNvPr id="15" name="Text 13"/>
          <p:cNvSpPr/>
          <p:nvPr/>
        </p:nvSpPr>
        <p:spPr>
          <a:xfrm>
            <a:off x="2514600" y="3419856"/>
            <a:ext cx="3794760" cy="603504"/>
          </a:xfrm>
          <a:prstGeom prst="rect">
            <a:avLst/>
          </a:prstGeom>
          <a:noFill/>
          <a:ln/>
        </p:spPr>
        <p:txBody>
          <a:bodyPr wrap="square" rtlCol="0" anchor="ctr"/>
          <a:lstStyle/>
          <a:p>
            <a:pPr marL="0" indent="0">
              <a:buNone/>
            </a:pPr>
            <a:r>
              <a:rPr lang="en-US" sz="1250" dirty="0">
                <a:solidFill>
                  <a:srgbClr val="6B7280"/>
                </a:solidFill>
                <a:latin typeface="Segoe UI" pitchFamily="34" charset="0"/>
                <a:ea typeface="Segoe UI" pitchFamily="34" charset="-122"/>
                <a:cs typeface="Segoe UI" pitchFamily="34" charset="-120"/>
              </a:rPr>
              <a:t>Entire company, minus 6 admin operations</a:t>
            </a:r>
            <a:endParaRPr lang="en-US" sz="1250" dirty="0"/>
          </a:p>
        </p:txBody>
      </p:sp>
      <p:sp>
        <p:nvSpPr>
          <p:cNvPr id="16" name="Text 14"/>
          <p:cNvSpPr/>
          <p:nvPr/>
        </p:nvSpPr>
        <p:spPr>
          <a:xfrm>
            <a:off x="841248" y="4087368"/>
            <a:ext cx="457200" cy="237744"/>
          </a:xfrm>
          <a:prstGeom prst="rect">
            <a:avLst/>
          </a:prstGeom>
          <a:noFill/>
          <a:ln/>
        </p:spPr>
        <p:txBody>
          <a:bodyPr wrap="square" rtlCol="0" anchor="ctr"/>
          <a:lstStyle/>
          <a:p>
            <a:pPr marL="0" indent="0" algn="ctr">
              <a:buNone/>
            </a:pPr>
            <a:r>
              <a:rPr lang="en-US" sz="1000" dirty="0">
                <a:solidFill>
                  <a:srgbClr val="FDBA74"/>
                </a:solidFill>
                <a:latin typeface="Segoe UI" pitchFamily="34" charset="0"/>
                <a:ea typeface="Segoe UI" pitchFamily="34" charset="-122"/>
                <a:cs typeface="Segoe UI" pitchFamily="34" charset="-120"/>
              </a:rPr>
              <a:t>▼</a:t>
            </a:r>
            <a:endParaRPr lang="en-US" sz="1000" dirty="0"/>
          </a:p>
        </p:txBody>
      </p:sp>
      <p:sp>
        <p:nvSpPr>
          <p:cNvPr id="17" name="Shape 15"/>
          <p:cNvSpPr/>
          <p:nvPr/>
        </p:nvSpPr>
        <p:spPr>
          <a:xfrm>
            <a:off x="713232" y="4334256"/>
            <a:ext cx="4892040" cy="713232"/>
          </a:xfrm>
          <a:prstGeom prst="roundRect">
            <a:avLst>
              <a:gd name="adj" fmla="val 7692"/>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18" name="Shape 16"/>
          <p:cNvSpPr/>
          <p:nvPr/>
        </p:nvSpPr>
        <p:spPr>
          <a:xfrm>
            <a:off x="713232" y="4334256"/>
            <a:ext cx="68580" cy="713232"/>
          </a:xfrm>
          <a:prstGeom prst="rect">
            <a:avLst/>
          </a:prstGeom>
          <a:solidFill>
            <a:srgbClr val="F97316"/>
          </a:solidFill>
          <a:ln/>
        </p:spPr>
      </p:sp>
      <p:sp>
        <p:nvSpPr>
          <p:cNvPr id="19" name="Text 17"/>
          <p:cNvSpPr/>
          <p:nvPr/>
        </p:nvSpPr>
        <p:spPr>
          <a:xfrm>
            <a:off x="932688" y="4389120"/>
            <a:ext cx="1600200" cy="603504"/>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Manager</a:t>
            </a:r>
            <a:endParaRPr lang="en-US" sz="1700" dirty="0"/>
          </a:p>
        </p:txBody>
      </p:sp>
      <p:sp>
        <p:nvSpPr>
          <p:cNvPr id="20" name="Text 18"/>
          <p:cNvSpPr/>
          <p:nvPr/>
        </p:nvSpPr>
        <p:spPr>
          <a:xfrm>
            <a:off x="2514600" y="4389120"/>
            <a:ext cx="2971800" cy="603504"/>
          </a:xfrm>
          <a:prstGeom prst="rect">
            <a:avLst/>
          </a:prstGeom>
          <a:noFill/>
          <a:ln/>
        </p:spPr>
        <p:txBody>
          <a:bodyPr wrap="square" rtlCol="0" anchor="ctr"/>
          <a:lstStyle/>
          <a:p>
            <a:pPr marL="0" indent="0">
              <a:buNone/>
            </a:pPr>
            <a:r>
              <a:rPr lang="en-US" sz="1250" dirty="0">
                <a:solidFill>
                  <a:srgbClr val="6B7280"/>
                </a:solidFill>
                <a:latin typeface="Segoe UI" pitchFamily="34" charset="0"/>
                <a:ea typeface="Segoe UI" pitchFamily="34" charset="-122"/>
                <a:cs typeface="Segoe UI" pitchFamily="34" charset="-120"/>
              </a:rPr>
              <a:t>Own department only</a:t>
            </a:r>
            <a:endParaRPr lang="en-US" sz="1250" dirty="0"/>
          </a:p>
        </p:txBody>
      </p:sp>
      <p:sp>
        <p:nvSpPr>
          <p:cNvPr id="21" name="Text 19"/>
          <p:cNvSpPr/>
          <p:nvPr/>
        </p:nvSpPr>
        <p:spPr>
          <a:xfrm>
            <a:off x="841248" y="5056632"/>
            <a:ext cx="457200" cy="237744"/>
          </a:xfrm>
          <a:prstGeom prst="rect">
            <a:avLst/>
          </a:prstGeom>
          <a:noFill/>
          <a:ln/>
        </p:spPr>
        <p:txBody>
          <a:bodyPr wrap="square" rtlCol="0" anchor="ctr"/>
          <a:lstStyle/>
          <a:p>
            <a:pPr marL="0" indent="0" algn="ctr">
              <a:buNone/>
            </a:pPr>
            <a:r>
              <a:rPr lang="en-US" sz="1000" dirty="0">
                <a:solidFill>
                  <a:srgbClr val="FDBA74"/>
                </a:solidFill>
                <a:latin typeface="Segoe UI" pitchFamily="34" charset="0"/>
                <a:ea typeface="Segoe UI" pitchFamily="34" charset="-122"/>
                <a:cs typeface="Segoe UI" pitchFamily="34" charset="-120"/>
              </a:rPr>
              <a:t>▼</a:t>
            </a:r>
            <a:endParaRPr lang="en-US" sz="1000" dirty="0"/>
          </a:p>
        </p:txBody>
      </p:sp>
      <p:sp>
        <p:nvSpPr>
          <p:cNvPr id="22" name="Shape 20"/>
          <p:cNvSpPr/>
          <p:nvPr/>
        </p:nvSpPr>
        <p:spPr>
          <a:xfrm>
            <a:off x="713232" y="5303520"/>
            <a:ext cx="4069080" cy="713232"/>
          </a:xfrm>
          <a:prstGeom prst="roundRect">
            <a:avLst>
              <a:gd name="adj" fmla="val 7692"/>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23" name="Shape 21"/>
          <p:cNvSpPr/>
          <p:nvPr/>
        </p:nvSpPr>
        <p:spPr>
          <a:xfrm>
            <a:off x="713232" y="5303520"/>
            <a:ext cx="68580" cy="713232"/>
          </a:xfrm>
          <a:prstGeom prst="rect">
            <a:avLst/>
          </a:prstGeom>
          <a:solidFill>
            <a:srgbClr val="F97316"/>
          </a:solidFill>
          <a:ln/>
        </p:spPr>
      </p:sp>
      <p:sp>
        <p:nvSpPr>
          <p:cNvPr id="24" name="Text 22"/>
          <p:cNvSpPr/>
          <p:nvPr/>
        </p:nvSpPr>
        <p:spPr>
          <a:xfrm>
            <a:off x="932688" y="5358384"/>
            <a:ext cx="1600200" cy="603504"/>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Employee</a:t>
            </a:r>
            <a:endParaRPr lang="en-US" sz="1700" dirty="0"/>
          </a:p>
        </p:txBody>
      </p:sp>
      <p:sp>
        <p:nvSpPr>
          <p:cNvPr id="25" name="Text 23"/>
          <p:cNvSpPr/>
          <p:nvPr/>
        </p:nvSpPr>
        <p:spPr>
          <a:xfrm>
            <a:off x="2514600" y="5358384"/>
            <a:ext cx="2148840" cy="603504"/>
          </a:xfrm>
          <a:prstGeom prst="rect">
            <a:avLst/>
          </a:prstGeom>
          <a:noFill/>
          <a:ln/>
        </p:spPr>
        <p:txBody>
          <a:bodyPr wrap="square" rtlCol="0" anchor="ctr"/>
          <a:lstStyle/>
          <a:p>
            <a:pPr marL="0" indent="0">
              <a:buNone/>
            </a:pPr>
            <a:r>
              <a:rPr lang="en-US" sz="1250" dirty="0">
                <a:solidFill>
                  <a:srgbClr val="6B7280"/>
                </a:solidFill>
                <a:latin typeface="Segoe UI" pitchFamily="34" charset="0"/>
                <a:ea typeface="Segoe UI" pitchFamily="34" charset="-122"/>
                <a:cs typeface="Segoe UI" pitchFamily="34" charset="-120"/>
              </a:rPr>
              <a:t>Own shifts and tasks only</a:t>
            </a:r>
            <a:endParaRPr lang="en-US" sz="1250" dirty="0"/>
          </a:p>
        </p:txBody>
      </p:sp>
      <p:sp>
        <p:nvSpPr>
          <p:cNvPr id="26" name="Shape 24"/>
          <p:cNvSpPr/>
          <p:nvPr/>
        </p:nvSpPr>
        <p:spPr>
          <a:xfrm>
            <a:off x="7699248" y="1828800"/>
            <a:ext cx="10973" cy="3977640"/>
          </a:xfrm>
          <a:prstGeom prst="rect">
            <a:avLst/>
          </a:prstGeom>
          <a:solidFill>
            <a:srgbClr val="E5E7EB"/>
          </a:solidFill>
          <a:ln/>
        </p:spPr>
      </p:sp>
      <p:sp>
        <p:nvSpPr>
          <p:cNvPr id="27" name="Text 25"/>
          <p:cNvSpPr/>
          <p:nvPr/>
        </p:nvSpPr>
        <p:spPr>
          <a:xfrm>
            <a:off x="8092440" y="1755648"/>
            <a:ext cx="3566160" cy="256032"/>
          </a:xfrm>
          <a:prstGeom prst="rect">
            <a:avLst/>
          </a:prstGeom>
          <a:noFill/>
          <a:ln/>
        </p:spPr>
        <p:txBody>
          <a:bodyPr wrap="square" rtlCol="0" anchor="ctr"/>
          <a:lstStyle/>
          <a:p>
            <a:pPr marL="0" indent="0">
              <a:buNone/>
            </a:pPr>
            <a:r>
              <a:rPr lang="en-US" sz="1100" b="1" kern="0" spc="140" dirty="0">
                <a:solidFill>
                  <a:srgbClr val="9CA3AF"/>
                </a:solidFill>
                <a:latin typeface="Segoe UI" pitchFamily="34" charset="0"/>
                <a:ea typeface="Segoe UI" pitchFamily="34" charset="-122"/>
                <a:cs typeface="Segoe UI" pitchFamily="34" charset="-120"/>
              </a:rPr>
              <a:t>External Roles</a:t>
            </a:r>
            <a:endParaRPr lang="en-US" sz="1100" dirty="0"/>
          </a:p>
        </p:txBody>
      </p:sp>
      <p:sp>
        <p:nvSpPr>
          <p:cNvPr id="28" name="Text 26"/>
          <p:cNvSpPr/>
          <p:nvPr/>
        </p:nvSpPr>
        <p:spPr>
          <a:xfrm>
            <a:off x="8092440" y="1993392"/>
            <a:ext cx="3566160" cy="256032"/>
          </a:xfrm>
          <a:prstGeom prst="rect">
            <a:avLst/>
          </a:prstGeom>
          <a:noFill/>
          <a:ln/>
        </p:spPr>
        <p:txBody>
          <a:bodyPr wrap="square" rtlCol="0" anchor="ctr"/>
          <a:lstStyle/>
          <a:p>
            <a:pPr marL="0" indent="0">
              <a:buNone/>
            </a:pPr>
            <a:r>
              <a:rPr lang="en-US" sz="1200" i="1" dirty="0">
                <a:solidFill>
                  <a:srgbClr val="6B7280"/>
                </a:solidFill>
                <a:latin typeface="Segoe UI" pitchFamily="34" charset="0"/>
                <a:ea typeface="Segoe UI" pitchFamily="34" charset="-122"/>
                <a:cs typeface="Segoe UI" pitchFamily="34" charset="-120"/>
              </a:rPr>
              <a:t>Never inherited by the hierarchy</a:t>
            </a:r>
            <a:endParaRPr lang="en-US" sz="1200" dirty="0"/>
          </a:p>
        </p:txBody>
      </p:sp>
      <p:sp>
        <p:nvSpPr>
          <p:cNvPr id="29" name="Shape 27"/>
          <p:cNvSpPr/>
          <p:nvPr/>
        </p:nvSpPr>
        <p:spPr>
          <a:xfrm>
            <a:off x="8092440" y="2395728"/>
            <a:ext cx="3401568" cy="1170432"/>
          </a:xfrm>
          <a:prstGeom prst="roundRect">
            <a:avLst>
              <a:gd name="adj" fmla="val 4688"/>
            </a:avLst>
          </a:prstGeom>
          <a:solidFill>
            <a:srgbClr val="F9FAFB"/>
          </a:solidFill>
          <a:ln w="12700">
            <a:solidFill>
              <a:srgbClr val="E5E7EB"/>
            </a:solidFill>
            <a:prstDash val="solid"/>
          </a:ln>
          <a:effectLst>
            <a:outerShdw blurRad="76200" dist="12700" dir="5400000" algn="bl" rotWithShape="0">
              <a:srgbClr val="000000">
                <a:alpha val="6000"/>
              </a:srgbClr>
            </a:outerShdw>
          </a:effectLst>
        </p:spPr>
      </p:sp>
      <p:sp>
        <p:nvSpPr>
          <p:cNvPr id="30" name="Text 28"/>
          <p:cNvSpPr/>
          <p:nvPr/>
        </p:nvSpPr>
        <p:spPr>
          <a:xfrm>
            <a:off x="8339328" y="2596896"/>
            <a:ext cx="2926080" cy="320040"/>
          </a:xfrm>
          <a:prstGeom prst="rect">
            <a:avLst/>
          </a:prstGeom>
          <a:noFill/>
          <a:ln/>
        </p:spPr>
        <p:txBody>
          <a:bodyPr wrap="square" rtlCol="0" anchor="ctr"/>
          <a:lstStyle/>
          <a:p>
            <a:pPr marL="0" indent="0">
              <a:buNone/>
            </a:pPr>
            <a:r>
              <a:rPr lang="en-US" sz="1600" b="1" dirty="0">
                <a:solidFill>
                  <a:srgbClr val="18181B"/>
                </a:solidFill>
                <a:latin typeface="Segoe UI" pitchFamily="34" charset="0"/>
                <a:ea typeface="Segoe UI" pitchFamily="34" charset="-122"/>
                <a:cs typeface="Segoe UI" pitchFamily="34" charset="-120"/>
              </a:rPr>
              <a:t>Casual Worker</a:t>
            </a:r>
            <a:endParaRPr lang="en-US" sz="1600" dirty="0"/>
          </a:p>
        </p:txBody>
      </p:sp>
      <p:sp>
        <p:nvSpPr>
          <p:cNvPr id="31" name="Text 29"/>
          <p:cNvSpPr/>
          <p:nvPr/>
        </p:nvSpPr>
        <p:spPr>
          <a:xfrm>
            <a:off x="8339328" y="2962656"/>
            <a:ext cx="2926080" cy="502920"/>
          </a:xfrm>
          <a:prstGeom prst="rect">
            <a:avLst/>
          </a:prstGeom>
          <a:noFill/>
          <a:ln/>
        </p:spPr>
        <p:txBody>
          <a:bodyPr wrap="square" rtlCol="0" anchor="ctr"/>
          <a:lstStyle/>
          <a:p>
            <a:pPr marL="0" indent="0">
              <a:lnSpc>
                <a:spcPct val="125000"/>
              </a:lnSpc>
              <a:buNone/>
            </a:pPr>
            <a:r>
              <a:rPr lang="en-US" sz="1200" dirty="0">
                <a:solidFill>
                  <a:srgbClr val="6B7280"/>
                </a:solidFill>
                <a:latin typeface="Segoe UI" pitchFamily="34" charset="0"/>
                <a:ea typeface="Segoe UI" pitchFamily="34" charset="-122"/>
                <a:cs typeface="Segoe UI" pitchFamily="34" charset="-120"/>
              </a:rPr>
              <a:t>Only the jobs they accepted</a:t>
            </a:r>
            <a:endParaRPr lang="en-US" sz="1200" dirty="0"/>
          </a:p>
        </p:txBody>
      </p:sp>
      <p:sp>
        <p:nvSpPr>
          <p:cNvPr id="32" name="Shape 30"/>
          <p:cNvSpPr/>
          <p:nvPr/>
        </p:nvSpPr>
        <p:spPr>
          <a:xfrm>
            <a:off x="8092440" y="3822192"/>
            <a:ext cx="3401568" cy="1170432"/>
          </a:xfrm>
          <a:prstGeom prst="roundRect">
            <a:avLst>
              <a:gd name="adj" fmla="val 4688"/>
            </a:avLst>
          </a:prstGeom>
          <a:solidFill>
            <a:srgbClr val="F9FAFB"/>
          </a:solidFill>
          <a:ln w="12700">
            <a:solidFill>
              <a:srgbClr val="E5E7EB"/>
            </a:solidFill>
            <a:prstDash val="solid"/>
          </a:ln>
          <a:effectLst>
            <a:outerShdw blurRad="76200" dist="12700" dir="5400000" algn="bl" rotWithShape="0">
              <a:srgbClr val="000000">
                <a:alpha val="6000"/>
              </a:srgbClr>
            </a:outerShdw>
          </a:effectLst>
        </p:spPr>
      </p:sp>
      <p:sp>
        <p:nvSpPr>
          <p:cNvPr id="33" name="Text 31"/>
          <p:cNvSpPr/>
          <p:nvPr/>
        </p:nvSpPr>
        <p:spPr>
          <a:xfrm>
            <a:off x="8339328" y="4023360"/>
            <a:ext cx="2926080" cy="320040"/>
          </a:xfrm>
          <a:prstGeom prst="rect">
            <a:avLst/>
          </a:prstGeom>
          <a:noFill/>
          <a:ln/>
        </p:spPr>
        <p:txBody>
          <a:bodyPr wrap="square" rtlCol="0" anchor="ctr"/>
          <a:lstStyle/>
          <a:p>
            <a:pPr marL="0" indent="0">
              <a:buNone/>
            </a:pPr>
            <a:r>
              <a:rPr lang="en-US" sz="1600" b="1" dirty="0">
                <a:solidFill>
                  <a:srgbClr val="18181B"/>
                </a:solidFill>
                <a:latin typeface="Segoe UI" pitchFamily="34" charset="0"/>
                <a:ea typeface="Segoe UI" pitchFamily="34" charset="-122"/>
                <a:cs typeface="Segoe UI" pitchFamily="34" charset="-120"/>
              </a:rPr>
              <a:t>Guest User</a:t>
            </a:r>
            <a:endParaRPr lang="en-US" sz="1600" dirty="0"/>
          </a:p>
        </p:txBody>
      </p:sp>
      <p:sp>
        <p:nvSpPr>
          <p:cNvPr id="34" name="Text 32"/>
          <p:cNvSpPr/>
          <p:nvPr/>
        </p:nvSpPr>
        <p:spPr>
          <a:xfrm>
            <a:off x="8339328" y="4389120"/>
            <a:ext cx="2926080" cy="502920"/>
          </a:xfrm>
          <a:prstGeom prst="rect">
            <a:avLst/>
          </a:prstGeom>
          <a:noFill/>
          <a:ln/>
        </p:spPr>
        <p:txBody>
          <a:bodyPr wrap="square" rtlCol="0" anchor="ctr"/>
          <a:lstStyle/>
          <a:p>
            <a:pPr marL="0" indent="0">
              <a:lnSpc>
                <a:spcPct val="125000"/>
              </a:lnSpc>
              <a:buNone/>
            </a:pPr>
            <a:r>
              <a:rPr lang="en-US" sz="1200" dirty="0">
                <a:solidFill>
                  <a:srgbClr val="6B7280"/>
                </a:solidFill>
                <a:latin typeface="Segoe UI" pitchFamily="34" charset="0"/>
                <a:ea typeface="Segoe UI" pitchFamily="34" charset="-122"/>
                <a:cs typeface="Segoe UI" pitchFamily="34" charset="-120"/>
              </a:rPr>
              <a:t>Public job board only</a:t>
            </a:r>
            <a:endParaRPr lang="en-US" sz="1200" dirty="0"/>
          </a:p>
        </p:txBody>
      </p:sp>
      <p:sp>
        <p:nvSpPr>
          <p:cNvPr id="35" name="Shape 33"/>
          <p:cNvSpPr/>
          <p:nvPr/>
        </p:nvSpPr>
        <p:spPr>
          <a:xfrm>
            <a:off x="8092440" y="5285232"/>
            <a:ext cx="3401568" cy="566928"/>
          </a:xfrm>
          <a:prstGeom prst="roundRect">
            <a:avLst>
              <a:gd name="adj" fmla="val 9677"/>
            </a:avLst>
          </a:prstGeom>
          <a:solidFill>
            <a:srgbClr val="FFF7ED"/>
          </a:solidFill>
          <a:ln w="12700">
            <a:solidFill>
              <a:srgbClr val="FED7AA"/>
            </a:solidFill>
            <a:prstDash val="solid"/>
          </a:ln>
        </p:spPr>
      </p:sp>
      <p:sp>
        <p:nvSpPr>
          <p:cNvPr id="36" name="Text 34"/>
          <p:cNvSpPr/>
          <p:nvPr/>
        </p:nvSpPr>
        <p:spPr>
          <a:xfrm>
            <a:off x="8275320" y="5285232"/>
            <a:ext cx="3063240" cy="566928"/>
          </a:xfrm>
          <a:prstGeom prst="rect">
            <a:avLst/>
          </a:prstGeom>
          <a:noFill/>
          <a:ln/>
        </p:spPr>
        <p:txBody>
          <a:bodyPr wrap="square" rtlCol="0" anchor="ctr"/>
          <a:lstStyle/>
          <a:p>
            <a:pPr marL="0" indent="0">
              <a:buNone/>
            </a:pPr>
            <a:r>
              <a:rPr lang="en-US" sz="1150" b="1" dirty="0">
                <a:solidFill>
                  <a:srgbClr val="C2410C"/>
                </a:solidFill>
                <a:latin typeface="Segoe UI" pitchFamily="34" charset="0"/>
                <a:ea typeface="Segoe UI" pitchFamily="34" charset="-122"/>
                <a:cs typeface="Segoe UI" pitchFamily="34" charset="-120"/>
              </a:rPr>
              <a:t>Assignment flows one level down only</a:t>
            </a:r>
            <a:endParaRPr lang="en-US" sz="115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566928"/>
            <a:ext cx="384048" cy="68580"/>
          </a:xfrm>
          <a:prstGeom prst="rect">
            <a:avLst/>
          </a:prstGeom>
          <a:solidFill>
            <a:srgbClr val="F97316"/>
          </a:solidFill>
          <a:ln/>
        </p:spPr>
      </p:sp>
      <p:sp>
        <p:nvSpPr>
          <p:cNvPr id="3" name="Text 1"/>
          <p:cNvSpPr/>
          <p:nvPr/>
        </p:nvSpPr>
        <p:spPr>
          <a:xfrm>
            <a:off x="685800" y="731520"/>
            <a:ext cx="10789920" cy="274320"/>
          </a:xfrm>
          <a:prstGeom prst="rect">
            <a:avLst/>
          </a:prstGeom>
          <a:noFill/>
          <a:ln/>
        </p:spPr>
        <p:txBody>
          <a:bodyPr wrap="square" rtlCol="0" anchor="ctr"/>
          <a:lstStyle/>
          <a:p>
            <a:pPr marL="0" indent="0">
              <a:buNone/>
            </a:pPr>
            <a:r>
              <a:rPr lang="en-US" sz="1100" b="1" kern="0" spc="160" dirty="0">
                <a:solidFill>
                  <a:srgbClr val="9CA3AF"/>
                </a:solidFill>
                <a:latin typeface="Segoe UI" pitchFamily="34" charset="0"/>
                <a:ea typeface="Segoe UI" pitchFamily="34" charset="-122"/>
                <a:cs typeface="Segoe UI" pitchFamily="34" charset="-120"/>
              </a:rPr>
              <a:t>SCOPE</a:t>
            </a:r>
            <a:endParaRPr lang="en-US" sz="1100" dirty="0"/>
          </a:p>
        </p:txBody>
      </p:sp>
      <p:sp>
        <p:nvSpPr>
          <p:cNvPr id="4" name="Text 2"/>
          <p:cNvSpPr/>
          <p:nvPr/>
        </p:nvSpPr>
        <p:spPr>
          <a:xfrm>
            <a:off x="685800" y="1005840"/>
            <a:ext cx="10789920" cy="548640"/>
          </a:xfrm>
          <a:prstGeom prst="rect">
            <a:avLst/>
          </a:prstGeom>
          <a:noFill/>
          <a:ln/>
        </p:spPr>
        <p:txBody>
          <a:bodyPr wrap="square" rtlCol="0" anchor="ctr"/>
          <a:lstStyle/>
          <a:p>
            <a:pPr marL="0" indent="0">
              <a:buNone/>
            </a:pPr>
            <a:r>
              <a:rPr lang="en-US" sz="3000" b="1" dirty="0">
                <a:solidFill>
                  <a:srgbClr val="18181B"/>
                </a:solidFill>
                <a:latin typeface="Segoe UI" pitchFamily="34" charset="0"/>
                <a:ea typeface="Segoe UI" pitchFamily="34" charset="-122"/>
                <a:cs typeface="Segoe UI" pitchFamily="34" charset="-120"/>
              </a:rPr>
              <a:t>Roles Demonstrated in This Video</a:t>
            </a:r>
            <a:endParaRPr lang="en-US" sz="3000" dirty="0"/>
          </a:p>
        </p:txBody>
      </p:sp>
      <p:sp>
        <p:nvSpPr>
          <p:cNvPr id="5" name="Text 3"/>
          <p:cNvSpPr/>
          <p:nvPr/>
        </p:nvSpPr>
        <p:spPr>
          <a:xfrm>
            <a:off x="713232" y="1783080"/>
            <a:ext cx="5486400" cy="256032"/>
          </a:xfrm>
          <a:prstGeom prst="rect">
            <a:avLst/>
          </a:prstGeom>
          <a:noFill/>
          <a:ln/>
        </p:spPr>
        <p:txBody>
          <a:bodyPr wrap="square" rtlCol="0" anchor="ctr"/>
          <a:lstStyle/>
          <a:p>
            <a:pPr marL="0" indent="0">
              <a:buNone/>
            </a:pPr>
            <a:r>
              <a:rPr lang="en-US" sz="1100" b="1" kern="0" spc="140" dirty="0">
                <a:solidFill>
                  <a:srgbClr val="9CA3AF"/>
                </a:solidFill>
                <a:latin typeface="Segoe UI" pitchFamily="34" charset="0"/>
                <a:ea typeface="Segoe UI" pitchFamily="34" charset="-122"/>
                <a:cs typeface="Segoe UI" pitchFamily="34" charset="-120"/>
              </a:rPr>
              <a:t>Demonstrated</a:t>
            </a:r>
            <a:endParaRPr lang="en-US" sz="1100" dirty="0"/>
          </a:p>
        </p:txBody>
      </p:sp>
      <p:sp>
        <p:nvSpPr>
          <p:cNvPr id="6" name="Shape 4"/>
          <p:cNvSpPr/>
          <p:nvPr/>
        </p:nvSpPr>
        <p:spPr>
          <a:xfrm>
            <a:off x="385420" y="2121408"/>
            <a:ext cx="2615184" cy="1572768"/>
          </a:xfrm>
          <a:prstGeom prst="roundRect">
            <a:avLst>
              <a:gd name="adj" fmla="val 3488"/>
            </a:avLst>
          </a:prstGeom>
          <a:solidFill>
            <a:srgbClr val="FFFFFF"/>
          </a:solidFill>
          <a:ln w="12700">
            <a:solidFill>
              <a:srgbClr val="FDBA74"/>
            </a:solidFill>
            <a:prstDash val="solid"/>
          </a:ln>
          <a:effectLst>
            <a:outerShdw blurRad="76200" dist="12700" dir="5400000" algn="bl" rotWithShape="0">
              <a:srgbClr val="000000">
                <a:alpha val="6000"/>
              </a:srgbClr>
            </a:outerShdw>
          </a:effectLst>
        </p:spPr>
      </p:sp>
      <p:sp>
        <p:nvSpPr>
          <p:cNvPr id="7" name="Shape 5"/>
          <p:cNvSpPr/>
          <p:nvPr/>
        </p:nvSpPr>
        <p:spPr>
          <a:xfrm>
            <a:off x="385420" y="2121408"/>
            <a:ext cx="2615184" cy="77724"/>
          </a:xfrm>
          <a:prstGeom prst="rect">
            <a:avLst/>
          </a:prstGeom>
          <a:solidFill>
            <a:srgbClr val="F97316"/>
          </a:solidFill>
          <a:ln/>
        </p:spPr>
      </p:sp>
      <p:sp>
        <p:nvSpPr>
          <p:cNvPr id="8" name="Text 6"/>
          <p:cNvSpPr/>
          <p:nvPr/>
        </p:nvSpPr>
        <p:spPr>
          <a:xfrm>
            <a:off x="641452" y="2395728"/>
            <a:ext cx="411480" cy="365760"/>
          </a:xfrm>
          <a:prstGeom prst="rect">
            <a:avLst/>
          </a:prstGeom>
          <a:noFill/>
          <a:ln/>
        </p:spPr>
        <p:txBody>
          <a:bodyPr wrap="square" rtlCol="0" anchor="ctr"/>
          <a:lstStyle/>
          <a:p>
            <a:pPr marL="0" indent="0">
              <a:buNone/>
            </a:pPr>
            <a:r>
              <a:rPr lang="en-US" sz="1800" b="1" dirty="0">
                <a:solidFill>
                  <a:srgbClr val="F97316"/>
                </a:solidFill>
                <a:latin typeface="Segoe UI" pitchFamily="34" charset="0"/>
                <a:ea typeface="Segoe UI" pitchFamily="34" charset="-122"/>
                <a:cs typeface="Segoe UI" pitchFamily="34" charset="-120"/>
              </a:rPr>
              <a:t>✔</a:t>
            </a:r>
            <a:endParaRPr lang="en-US" sz="1800" dirty="0"/>
          </a:p>
        </p:txBody>
      </p:sp>
      <p:sp>
        <p:nvSpPr>
          <p:cNvPr id="9" name="Text 7"/>
          <p:cNvSpPr/>
          <p:nvPr/>
        </p:nvSpPr>
        <p:spPr>
          <a:xfrm>
            <a:off x="1071220" y="2377440"/>
            <a:ext cx="1700784" cy="384048"/>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Owner</a:t>
            </a:r>
            <a:endParaRPr lang="en-US" sz="1700" dirty="0"/>
          </a:p>
        </p:txBody>
      </p:sp>
      <p:sp>
        <p:nvSpPr>
          <p:cNvPr id="10" name="Text 8"/>
          <p:cNvSpPr/>
          <p:nvPr/>
        </p:nvSpPr>
        <p:spPr>
          <a:xfrm>
            <a:off x="641452" y="2880360"/>
            <a:ext cx="2103120" cy="640080"/>
          </a:xfrm>
          <a:prstGeom prst="rect">
            <a:avLst/>
          </a:prstGeom>
          <a:noFill/>
          <a:ln/>
        </p:spPr>
        <p:txBody>
          <a:bodyPr wrap="square" rtlCol="0" anchor="ctr"/>
          <a:lstStyle/>
          <a:p>
            <a:pPr marL="0" indent="0">
              <a:lnSpc>
                <a:spcPct val="125000"/>
              </a:lnSpc>
              <a:buNone/>
            </a:pPr>
            <a:r>
              <a:rPr lang="en-US" sz="1200" dirty="0">
                <a:solidFill>
                  <a:srgbClr val="6B7280"/>
                </a:solidFill>
                <a:latin typeface="Segoe UI" pitchFamily="34" charset="0"/>
                <a:ea typeface="Segoe UI" pitchFamily="34" charset="-122"/>
                <a:cs typeface="Segoe UI" pitchFamily="34" charset="-120"/>
              </a:rPr>
              <a:t>Entire company</a:t>
            </a:r>
            <a:endParaRPr lang="en-US" sz="1200" dirty="0"/>
          </a:p>
        </p:txBody>
      </p:sp>
      <p:sp>
        <p:nvSpPr>
          <p:cNvPr id="11" name="Shape 9"/>
          <p:cNvSpPr/>
          <p:nvPr/>
        </p:nvSpPr>
        <p:spPr>
          <a:xfrm>
            <a:off x="3320644" y="2121408"/>
            <a:ext cx="2615184" cy="1572768"/>
          </a:xfrm>
          <a:prstGeom prst="roundRect">
            <a:avLst>
              <a:gd name="adj" fmla="val 3488"/>
            </a:avLst>
          </a:prstGeom>
          <a:solidFill>
            <a:srgbClr val="FFFFFF"/>
          </a:solidFill>
          <a:ln w="12700">
            <a:solidFill>
              <a:srgbClr val="FDBA74"/>
            </a:solidFill>
            <a:prstDash val="solid"/>
          </a:ln>
          <a:effectLst>
            <a:outerShdw blurRad="76200" dist="12700" dir="5400000" algn="bl" rotWithShape="0">
              <a:srgbClr val="000000">
                <a:alpha val="6000"/>
              </a:srgbClr>
            </a:outerShdw>
          </a:effectLst>
        </p:spPr>
      </p:sp>
      <p:sp>
        <p:nvSpPr>
          <p:cNvPr id="12" name="Shape 10"/>
          <p:cNvSpPr/>
          <p:nvPr/>
        </p:nvSpPr>
        <p:spPr>
          <a:xfrm>
            <a:off x="3320644" y="2121408"/>
            <a:ext cx="2615184" cy="77724"/>
          </a:xfrm>
          <a:prstGeom prst="rect">
            <a:avLst/>
          </a:prstGeom>
          <a:solidFill>
            <a:srgbClr val="F97316"/>
          </a:solidFill>
          <a:ln/>
        </p:spPr>
      </p:sp>
      <p:sp>
        <p:nvSpPr>
          <p:cNvPr id="13" name="Text 11"/>
          <p:cNvSpPr/>
          <p:nvPr/>
        </p:nvSpPr>
        <p:spPr>
          <a:xfrm>
            <a:off x="3576676" y="2395728"/>
            <a:ext cx="411480" cy="365760"/>
          </a:xfrm>
          <a:prstGeom prst="rect">
            <a:avLst/>
          </a:prstGeom>
          <a:noFill/>
          <a:ln/>
        </p:spPr>
        <p:txBody>
          <a:bodyPr wrap="square" rtlCol="0" anchor="ctr"/>
          <a:lstStyle/>
          <a:p>
            <a:pPr marL="0" indent="0">
              <a:buNone/>
            </a:pPr>
            <a:r>
              <a:rPr lang="en-US" sz="1800" b="1" dirty="0">
                <a:solidFill>
                  <a:srgbClr val="F97316"/>
                </a:solidFill>
                <a:latin typeface="Segoe UI" pitchFamily="34" charset="0"/>
                <a:ea typeface="Segoe UI" pitchFamily="34" charset="-122"/>
                <a:cs typeface="Segoe UI" pitchFamily="34" charset="-120"/>
              </a:rPr>
              <a:t>✔</a:t>
            </a:r>
            <a:endParaRPr lang="en-US" sz="1800" dirty="0"/>
          </a:p>
        </p:txBody>
      </p:sp>
      <p:sp>
        <p:nvSpPr>
          <p:cNvPr id="14" name="Text 12"/>
          <p:cNvSpPr/>
          <p:nvPr/>
        </p:nvSpPr>
        <p:spPr>
          <a:xfrm>
            <a:off x="4006444" y="2377440"/>
            <a:ext cx="1700784" cy="384048"/>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Manager</a:t>
            </a:r>
            <a:endParaRPr lang="en-US" sz="1700" dirty="0"/>
          </a:p>
        </p:txBody>
      </p:sp>
      <p:sp>
        <p:nvSpPr>
          <p:cNvPr id="15" name="Text 13"/>
          <p:cNvSpPr/>
          <p:nvPr/>
        </p:nvSpPr>
        <p:spPr>
          <a:xfrm>
            <a:off x="3576676" y="2880360"/>
            <a:ext cx="2103120" cy="640080"/>
          </a:xfrm>
          <a:prstGeom prst="rect">
            <a:avLst/>
          </a:prstGeom>
          <a:noFill/>
          <a:ln/>
        </p:spPr>
        <p:txBody>
          <a:bodyPr wrap="square" rtlCol="0" anchor="ctr"/>
          <a:lstStyle/>
          <a:p>
            <a:pPr marL="0" indent="0">
              <a:lnSpc>
                <a:spcPct val="125000"/>
              </a:lnSpc>
              <a:buNone/>
            </a:pPr>
            <a:r>
              <a:rPr lang="en-US" sz="1200" dirty="0">
                <a:solidFill>
                  <a:srgbClr val="6B7280"/>
                </a:solidFill>
                <a:latin typeface="Segoe UI" pitchFamily="34" charset="0"/>
                <a:ea typeface="Segoe UI" pitchFamily="34" charset="-122"/>
                <a:cs typeface="Segoe UI" pitchFamily="34" charset="-120"/>
              </a:rPr>
              <a:t>Own department</a:t>
            </a:r>
            <a:endParaRPr lang="en-US" sz="1200" dirty="0"/>
          </a:p>
        </p:txBody>
      </p:sp>
      <p:sp>
        <p:nvSpPr>
          <p:cNvPr id="16" name="Shape 14"/>
          <p:cNvSpPr/>
          <p:nvPr/>
        </p:nvSpPr>
        <p:spPr>
          <a:xfrm>
            <a:off x="6255868" y="2121408"/>
            <a:ext cx="2615184" cy="1572768"/>
          </a:xfrm>
          <a:prstGeom prst="roundRect">
            <a:avLst>
              <a:gd name="adj" fmla="val 3488"/>
            </a:avLst>
          </a:prstGeom>
          <a:solidFill>
            <a:srgbClr val="FFFFFF"/>
          </a:solidFill>
          <a:ln w="12700">
            <a:solidFill>
              <a:srgbClr val="FDBA74"/>
            </a:solidFill>
            <a:prstDash val="solid"/>
          </a:ln>
          <a:effectLst>
            <a:outerShdw blurRad="76200" dist="12700" dir="5400000" algn="bl" rotWithShape="0">
              <a:srgbClr val="000000">
                <a:alpha val="6000"/>
              </a:srgbClr>
            </a:outerShdw>
          </a:effectLst>
        </p:spPr>
      </p:sp>
      <p:sp>
        <p:nvSpPr>
          <p:cNvPr id="17" name="Shape 15"/>
          <p:cNvSpPr/>
          <p:nvPr/>
        </p:nvSpPr>
        <p:spPr>
          <a:xfrm>
            <a:off x="6255868" y="2121408"/>
            <a:ext cx="2615184" cy="77724"/>
          </a:xfrm>
          <a:prstGeom prst="rect">
            <a:avLst/>
          </a:prstGeom>
          <a:solidFill>
            <a:srgbClr val="F97316"/>
          </a:solidFill>
          <a:ln/>
        </p:spPr>
      </p:sp>
      <p:sp>
        <p:nvSpPr>
          <p:cNvPr id="18" name="Text 16"/>
          <p:cNvSpPr/>
          <p:nvPr/>
        </p:nvSpPr>
        <p:spPr>
          <a:xfrm>
            <a:off x="6511900" y="2395728"/>
            <a:ext cx="411480" cy="365760"/>
          </a:xfrm>
          <a:prstGeom prst="rect">
            <a:avLst/>
          </a:prstGeom>
          <a:noFill/>
          <a:ln/>
        </p:spPr>
        <p:txBody>
          <a:bodyPr wrap="square" rtlCol="0" anchor="ctr"/>
          <a:lstStyle/>
          <a:p>
            <a:pPr marL="0" indent="0">
              <a:buNone/>
            </a:pPr>
            <a:r>
              <a:rPr lang="en-US" sz="1800" b="1" dirty="0">
                <a:solidFill>
                  <a:srgbClr val="F97316"/>
                </a:solidFill>
                <a:latin typeface="Segoe UI" pitchFamily="34" charset="0"/>
                <a:ea typeface="Segoe UI" pitchFamily="34" charset="-122"/>
                <a:cs typeface="Segoe UI" pitchFamily="34" charset="-120"/>
              </a:rPr>
              <a:t>✔</a:t>
            </a:r>
            <a:endParaRPr lang="en-US" sz="1800" dirty="0"/>
          </a:p>
        </p:txBody>
      </p:sp>
      <p:sp>
        <p:nvSpPr>
          <p:cNvPr id="19" name="Text 17"/>
          <p:cNvSpPr/>
          <p:nvPr/>
        </p:nvSpPr>
        <p:spPr>
          <a:xfrm>
            <a:off x="6941668" y="2377440"/>
            <a:ext cx="1700784" cy="384048"/>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Employee</a:t>
            </a:r>
            <a:endParaRPr lang="en-US" sz="1700" dirty="0"/>
          </a:p>
        </p:txBody>
      </p:sp>
      <p:sp>
        <p:nvSpPr>
          <p:cNvPr id="20" name="Text 18"/>
          <p:cNvSpPr/>
          <p:nvPr/>
        </p:nvSpPr>
        <p:spPr>
          <a:xfrm>
            <a:off x="6511900" y="2880360"/>
            <a:ext cx="2103120" cy="640080"/>
          </a:xfrm>
          <a:prstGeom prst="rect">
            <a:avLst/>
          </a:prstGeom>
          <a:noFill/>
          <a:ln/>
        </p:spPr>
        <p:txBody>
          <a:bodyPr wrap="square" rtlCol="0" anchor="ctr"/>
          <a:lstStyle/>
          <a:p>
            <a:pPr marL="0" indent="0">
              <a:lnSpc>
                <a:spcPct val="125000"/>
              </a:lnSpc>
              <a:buNone/>
            </a:pPr>
            <a:r>
              <a:rPr lang="en-US" sz="1200" dirty="0">
                <a:solidFill>
                  <a:srgbClr val="6B7280"/>
                </a:solidFill>
                <a:latin typeface="Segoe UI" pitchFamily="34" charset="0"/>
                <a:ea typeface="Segoe UI" pitchFamily="34" charset="-122"/>
                <a:cs typeface="Segoe UI" pitchFamily="34" charset="-120"/>
              </a:rPr>
              <a:t>Own work + supervises CWs</a:t>
            </a:r>
            <a:endParaRPr lang="en-US" sz="1200" dirty="0"/>
          </a:p>
        </p:txBody>
      </p:sp>
      <p:sp>
        <p:nvSpPr>
          <p:cNvPr id="21" name="Shape 19"/>
          <p:cNvSpPr/>
          <p:nvPr/>
        </p:nvSpPr>
        <p:spPr>
          <a:xfrm>
            <a:off x="9191092" y="2121408"/>
            <a:ext cx="2615184" cy="1572768"/>
          </a:xfrm>
          <a:prstGeom prst="roundRect">
            <a:avLst>
              <a:gd name="adj" fmla="val 3488"/>
            </a:avLst>
          </a:prstGeom>
          <a:solidFill>
            <a:srgbClr val="FFFFFF"/>
          </a:solidFill>
          <a:ln w="12700">
            <a:solidFill>
              <a:srgbClr val="FDBA74"/>
            </a:solidFill>
            <a:prstDash val="solid"/>
          </a:ln>
          <a:effectLst>
            <a:outerShdw blurRad="76200" dist="12700" dir="5400000" algn="bl" rotWithShape="0">
              <a:srgbClr val="000000">
                <a:alpha val="6000"/>
              </a:srgbClr>
            </a:outerShdw>
          </a:effectLst>
        </p:spPr>
      </p:sp>
      <p:sp>
        <p:nvSpPr>
          <p:cNvPr id="22" name="Shape 20"/>
          <p:cNvSpPr/>
          <p:nvPr/>
        </p:nvSpPr>
        <p:spPr>
          <a:xfrm>
            <a:off x="9191092" y="2121408"/>
            <a:ext cx="2615184" cy="77724"/>
          </a:xfrm>
          <a:prstGeom prst="rect">
            <a:avLst/>
          </a:prstGeom>
          <a:solidFill>
            <a:srgbClr val="F97316"/>
          </a:solidFill>
          <a:ln/>
        </p:spPr>
      </p:sp>
      <p:sp>
        <p:nvSpPr>
          <p:cNvPr id="23" name="Text 21"/>
          <p:cNvSpPr/>
          <p:nvPr/>
        </p:nvSpPr>
        <p:spPr>
          <a:xfrm>
            <a:off x="9447124" y="2395728"/>
            <a:ext cx="411480" cy="365760"/>
          </a:xfrm>
          <a:prstGeom prst="rect">
            <a:avLst/>
          </a:prstGeom>
          <a:noFill/>
          <a:ln/>
        </p:spPr>
        <p:txBody>
          <a:bodyPr wrap="square" rtlCol="0" anchor="ctr"/>
          <a:lstStyle/>
          <a:p>
            <a:pPr marL="0" indent="0">
              <a:buNone/>
            </a:pPr>
            <a:r>
              <a:rPr lang="en-US" sz="1800" b="1" dirty="0">
                <a:solidFill>
                  <a:srgbClr val="F97316"/>
                </a:solidFill>
                <a:latin typeface="Segoe UI" pitchFamily="34" charset="0"/>
                <a:ea typeface="Segoe UI" pitchFamily="34" charset="-122"/>
                <a:cs typeface="Segoe UI" pitchFamily="34" charset="-120"/>
              </a:rPr>
              <a:t>✔</a:t>
            </a:r>
            <a:endParaRPr lang="en-US" sz="1800" dirty="0"/>
          </a:p>
        </p:txBody>
      </p:sp>
      <p:sp>
        <p:nvSpPr>
          <p:cNvPr id="24" name="Text 22"/>
          <p:cNvSpPr/>
          <p:nvPr/>
        </p:nvSpPr>
        <p:spPr>
          <a:xfrm>
            <a:off x="9876892" y="2377440"/>
            <a:ext cx="1700784" cy="384048"/>
          </a:xfrm>
          <a:prstGeom prst="rect">
            <a:avLst/>
          </a:prstGeom>
          <a:noFill/>
          <a:ln/>
        </p:spPr>
        <p:txBody>
          <a:bodyPr wrap="square" rtlCol="0" anchor="ctr"/>
          <a:lstStyle/>
          <a:p>
            <a:pPr marL="0" indent="0">
              <a:buNone/>
            </a:pPr>
            <a:r>
              <a:rPr lang="en-US" sz="1700" b="1" dirty="0">
                <a:solidFill>
                  <a:srgbClr val="18181B"/>
                </a:solidFill>
                <a:latin typeface="Segoe UI" pitchFamily="34" charset="0"/>
                <a:ea typeface="Segoe UI" pitchFamily="34" charset="-122"/>
                <a:cs typeface="Segoe UI" pitchFamily="34" charset="-120"/>
              </a:rPr>
              <a:t>Casual Worker</a:t>
            </a:r>
            <a:endParaRPr lang="en-US" sz="1700" dirty="0"/>
          </a:p>
        </p:txBody>
      </p:sp>
      <p:sp>
        <p:nvSpPr>
          <p:cNvPr id="25" name="Text 23"/>
          <p:cNvSpPr/>
          <p:nvPr/>
        </p:nvSpPr>
        <p:spPr>
          <a:xfrm>
            <a:off x="9447124" y="2880360"/>
            <a:ext cx="2103120" cy="640080"/>
          </a:xfrm>
          <a:prstGeom prst="rect">
            <a:avLst/>
          </a:prstGeom>
          <a:noFill/>
          <a:ln/>
        </p:spPr>
        <p:txBody>
          <a:bodyPr wrap="square" rtlCol="0" anchor="ctr"/>
          <a:lstStyle/>
          <a:p>
            <a:pPr marL="0" indent="0">
              <a:lnSpc>
                <a:spcPct val="125000"/>
              </a:lnSpc>
              <a:buNone/>
            </a:pPr>
            <a:r>
              <a:rPr lang="en-US" sz="1200" dirty="0">
                <a:solidFill>
                  <a:srgbClr val="6B7280"/>
                </a:solidFill>
                <a:latin typeface="Segoe UI" pitchFamily="34" charset="0"/>
                <a:ea typeface="Segoe UI" pitchFamily="34" charset="-122"/>
                <a:cs typeface="Segoe UI" pitchFamily="34" charset="-120"/>
              </a:rPr>
              <a:t>Own accepted jobs</a:t>
            </a:r>
            <a:endParaRPr lang="en-US" sz="1200" dirty="0"/>
          </a:p>
        </p:txBody>
      </p:sp>
      <p:sp>
        <p:nvSpPr>
          <p:cNvPr id="26" name="Text 24"/>
          <p:cNvSpPr/>
          <p:nvPr/>
        </p:nvSpPr>
        <p:spPr>
          <a:xfrm>
            <a:off x="713232" y="4041648"/>
            <a:ext cx="5486400" cy="256032"/>
          </a:xfrm>
          <a:prstGeom prst="rect">
            <a:avLst/>
          </a:prstGeom>
          <a:noFill/>
          <a:ln/>
        </p:spPr>
        <p:txBody>
          <a:bodyPr wrap="square" rtlCol="0" anchor="ctr"/>
          <a:lstStyle/>
          <a:p>
            <a:pPr marL="0" indent="0">
              <a:buNone/>
            </a:pPr>
            <a:r>
              <a:rPr lang="en-US" sz="1100" b="1" kern="0" spc="140" dirty="0">
                <a:solidFill>
                  <a:srgbClr val="9CA3AF"/>
                </a:solidFill>
                <a:latin typeface="Segoe UI" pitchFamily="34" charset="0"/>
                <a:ea typeface="Segoe UI" pitchFamily="34" charset="-122"/>
                <a:cs typeface="Segoe UI" pitchFamily="34" charset="-120"/>
              </a:rPr>
              <a:t>Not Demonstrated</a:t>
            </a:r>
            <a:endParaRPr lang="en-US" sz="1100" dirty="0"/>
          </a:p>
        </p:txBody>
      </p:sp>
      <p:sp>
        <p:nvSpPr>
          <p:cNvPr id="27" name="Shape 25"/>
          <p:cNvSpPr/>
          <p:nvPr/>
        </p:nvSpPr>
        <p:spPr>
          <a:xfrm>
            <a:off x="713232" y="4370832"/>
            <a:ext cx="10771632" cy="896112"/>
          </a:xfrm>
          <a:prstGeom prst="roundRect">
            <a:avLst>
              <a:gd name="adj" fmla="val 6122"/>
            </a:avLst>
          </a:prstGeom>
          <a:solidFill>
            <a:srgbClr val="F9FAFB"/>
          </a:solidFill>
          <a:ln w="12700">
            <a:solidFill>
              <a:srgbClr val="E5E7EB"/>
            </a:solidFill>
            <a:prstDash val="solid"/>
          </a:ln>
        </p:spPr>
      </p:sp>
      <p:sp>
        <p:nvSpPr>
          <p:cNvPr id="28" name="Text 26"/>
          <p:cNvSpPr/>
          <p:nvPr/>
        </p:nvSpPr>
        <p:spPr>
          <a:xfrm>
            <a:off x="960120" y="4590288"/>
            <a:ext cx="365760" cy="365760"/>
          </a:xfrm>
          <a:prstGeom prst="rect">
            <a:avLst/>
          </a:prstGeom>
          <a:noFill/>
          <a:ln/>
        </p:spPr>
        <p:txBody>
          <a:bodyPr wrap="square" rtlCol="0" anchor="ctr"/>
          <a:lstStyle/>
          <a:p>
            <a:pPr marL="0" indent="0">
              <a:buNone/>
            </a:pPr>
            <a:r>
              <a:rPr lang="en-US" sz="1600" b="1" dirty="0">
                <a:solidFill>
                  <a:srgbClr val="FF0000"/>
                </a:solidFill>
                <a:latin typeface="Segoe UI" pitchFamily="34" charset="0"/>
                <a:ea typeface="Segoe UI" pitchFamily="34" charset="-122"/>
                <a:cs typeface="Segoe UI" pitchFamily="34" charset="-120"/>
              </a:rPr>
              <a:t>✘</a:t>
            </a:r>
            <a:endParaRPr lang="en-US" sz="1600" dirty="0">
              <a:solidFill>
                <a:srgbClr val="FF0000"/>
              </a:solidFill>
            </a:endParaRPr>
          </a:p>
        </p:txBody>
      </p:sp>
      <p:sp>
        <p:nvSpPr>
          <p:cNvPr id="29" name="Text 27"/>
          <p:cNvSpPr/>
          <p:nvPr/>
        </p:nvSpPr>
        <p:spPr>
          <a:xfrm>
            <a:off x="1371600" y="4553712"/>
            <a:ext cx="1600200" cy="411480"/>
          </a:xfrm>
          <a:prstGeom prst="rect">
            <a:avLst/>
          </a:prstGeom>
          <a:noFill/>
          <a:ln/>
        </p:spPr>
        <p:txBody>
          <a:bodyPr wrap="square" rtlCol="0" anchor="ctr"/>
          <a:lstStyle/>
          <a:p>
            <a:pPr marL="0" indent="0">
              <a:buNone/>
            </a:pPr>
            <a:r>
              <a:rPr lang="en-US" sz="1500" b="1" dirty="0">
                <a:solidFill>
                  <a:srgbClr val="6B7280"/>
                </a:solidFill>
                <a:latin typeface="Segoe UI" pitchFamily="34" charset="0"/>
                <a:ea typeface="Segoe UI" pitchFamily="34" charset="-122"/>
                <a:cs typeface="Segoe UI" pitchFamily="34" charset="-120"/>
              </a:rPr>
              <a:t>Partner</a:t>
            </a:r>
            <a:endParaRPr lang="en-US" sz="1500" dirty="0"/>
          </a:p>
        </p:txBody>
      </p:sp>
      <p:sp>
        <p:nvSpPr>
          <p:cNvPr id="30" name="Text 28"/>
          <p:cNvSpPr/>
          <p:nvPr/>
        </p:nvSpPr>
        <p:spPr>
          <a:xfrm>
            <a:off x="3017520" y="4498848"/>
            <a:ext cx="8229600" cy="658368"/>
          </a:xfrm>
          <a:prstGeom prst="rect">
            <a:avLst/>
          </a:prstGeom>
          <a:noFill/>
          <a:ln/>
        </p:spPr>
        <p:txBody>
          <a:bodyPr wrap="square" rtlCol="0" anchor="ctr"/>
          <a:lstStyle/>
          <a:p>
            <a:pPr marL="0" indent="0">
              <a:lnSpc>
                <a:spcPct val="120000"/>
              </a:lnSpc>
              <a:buNone/>
            </a:pPr>
            <a:r>
              <a:rPr lang="en-US" sz="1150" dirty="0">
                <a:solidFill>
                  <a:srgbClr val="6B7280"/>
                </a:solidFill>
                <a:latin typeface="Segoe UI" pitchFamily="34" charset="0"/>
                <a:ea typeface="Segoe UI" pitchFamily="34" charset="-122"/>
                <a:cs typeface="Segoe UI" pitchFamily="34" charset="-120"/>
              </a:rPr>
              <a:t>Functionally ~99% identical to Owner. Only minor admin operations are restricted</a:t>
            </a:r>
            <a:endParaRPr lang="en-US" sz="1150" dirty="0"/>
          </a:p>
        </p:txBody>
      </p:sp>
      <p:sp>
        <p:nvSpPr>
          <p:cNvPr id="31" name="Shape 29"/>
          <p:cNvSpPr/>
          <p:nvPr/>
        </p:nvSpPr>
        <p:spPr>
          <a:xfrm>
            <a:off x="713232" y="5394960"/>
            <a:ext cx="10771632" cy="896112"/>
          </a:xfrm>
          <a:prstGeom prst="roundRect">
            <a:avLst>
              <a:gd name="adj" fmla="val 6122"/>
            </a:avLst>
          </a:prstGeom>
          <a:solidFill>
            <a:srgbClr val="F9FAFB"/>
          </a:solidFill>
          <a:ln w="12700">
            <a:solidFill>
              <a:srgbClr val="E5E7EB"/>
            </a:solidFill>
            <a:prstDash val="solid"/>
          </a:ln>
        </p:spPr>
      </p:sp>
      <p:sp>
        <p:nvSpPr>
          <p:cNvPr id="32" name="Text 30"/>
          <p:cNvSpPr/>
          <p:nvPr/>
        </p:nvSpPr>
        <p:spPr>
          <a:xfrm>
            <a:off x="960120" y="5614416"/>
            <a:ext cx="365760" cy="365760"/>
          </a:xfrm>
          <a:prstGeom prst="rect">
            <a:avLst/>
          </a:prstGeom>
          <a:noFill/>
          <a:ln/>
        </p:spPr>
        <p:txBody>
          <a:bodyPr wrap="square" rtlCol="0" anchor="ctr"/>
          <a:lstStyle/>
          <a:p>
            <a:pPr marL="0" indent="0">
              <a:buNone/>
            </a:pPr>
            <a:r>
              <a:rPr lang="en-US" sz="1600" b="1" dirty="0">
                <a:solidFill>
                  <a:srgbClr val="FF0000"/>
                </a:solidFill>
                <a:latin typeface="Segoe UI" pitchFamily="34" charset="0"/>
                <a:ea typeface="Segoe UI" pitchFamily="34" charset="-122"/>
                <a:cs typeface="Segoe UI" pitchFamily="34" charset="-120"/>
              </a:rPr>
              <a:t>✘</a:t>
            </a:r>
            <a:endParaRPr lang="en-US" sz="1600" dirty="0">
              <a:solidFill>
                <a:srgbClr val="FF0000"/>
              </a:solidFill>
            </a:endParaRPr>
          </a:p>
        </p:txBody>
      </p:sp>
      <p:sp>
        <p:nvSpPr>
          <p:cNvPr id="33" name="Text 31"/>
          <p:cNvSpPr/>
          <p:nvPr/>
        </p:nvSpPr>
        <p:spPr>
          <a:xfrm>
            <a:off x="1371600" y="5577840"/>
            <a:ext cx="1600200" cy="411480"/>
          </a:xfrm>
          <a:prstGeom prst="rect">
            <a:avLst/>
          </a:prstGeom>
          <a:noFill/>
          <a:ln/>
        </p:spPr>
        <p:txBody>
          <a:bodyPr wrap="square" rtlCol="0" anchor="ctr"/>
          <a:lstStyle/>
          <a:p>
            <a:pPr marL="0" indent="0">
              <a:buNone/>
            </a:pPr>
            <a:r>
              <a:rPr lang="en-US" sz="1500" b="1" dirty="0">
                <a:solidFill>
                  <a:srgbClr val="6B7280"/>
                </a:solidFill>
                <a:latin typeface="Segoe UI" pitchFamily="34" charset="0"/>
                <a:ea typeface="Segoe UI" pitchFamily="34" charset="-122"/>
                <a:cs typeface="Segoe UI" pitchFamily="34" charset="-120"/>
              </a:rPr>
              <a:t>Guest User</a:t>
            </a:r>
            <a:endParaRPr lang="en-US" sz="1500" dirty="0"/>
          </a:p>
        </p:txBody>
      </p:sp>
      <p:sp>
        <p:nvSpPr>
          <p:cNvPr id="34" name="Text 32"/>
          <p:cNvSpPr/>
          <p:nvPr/>
        </p:nvSpPr>
        <p:spPr>
          <a:xfrm>
            <a:off x="3017520" y="5522976"/>
            <a:ext cx="8229600" cy="658368"/>
          </a:xfrm>
          <a:prstGeom prst="rect">
            <a:avLst/>
          </a:prstGeom>
          <a:noFill/>
          <a:ln/>
        </p:spPr>
        <p:txBody>
          <a:bodyPr wrap="square" rtlCol="0" anchor="ctr"/>
          <a:lstStyle/>
          <a:p>
            <a:pPr marL="0" indent="0">
              <a:lnSpc>
                <a:spcPct val="120000"/>
              </a:lnSpc>
              <a:buNone/>
            </a:pPr>
            <a:r>
              <a:rPr lang="en-US" sz="1150" dirty="0">
                <a:solidFill>
                  <a:srgbClr val="6B7280"/>
                </a:solidFill>
                <a:latin typeface="Segoe UI" pitchFamily="34" charset="0"/>
                <a:ea typeface="Segoe UI" pitchFamily="34" charset="-122"/>
                <a:cs typeface="Segoe UI" pitchFamily="34" charset="-120"/>
              </a:rPr>
              <a:t>Everything a Guest can do is already covered by the Casual Worker.</a:t>
            </a:r>
            <a:endParaRPr lang="en-US" sz="115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566928"/>
            <a:ext cx="384048" cy="68580"/>
          </a:xfrm>
          <a:prstGeom prst="rect">
            <a:avLst/>
          </a:prstGeom>
          <a:solidFill>
            <a:srgbClr val="F97316"/>
          </a:solidFill>
          <a:ln/>
        </p:spPr>
      </p:sp>
      <p:sp>
        <p:nvSpPr>
          <p:cNvPr id="3" name="Text 1"/>
          <p:cNvSpPr/>
          <p:nvPr/>
        </p:nvSpPr>
        <p:spPr>
          <a:xfrm>
            <a:off x="685800" y="731520"/>
            <a:ext cx="10789920" cy="274320"/>
          </a:xfrm>
          <a:prstGeom prst="rect">
            <a:avLst/>
          </a:prstGeom>
          <a:noFill/>
          <a:ln/>
        </p:spPr>
        <p:txBody>
          <a:bodyPr wrap="square" rtlCol="0" anchor="ctr"/>
          <a:lstStyle/>
          <a:p>
            <a:pPr marL="0" indent="0">
              <a:buNone/>
            </a:pPr>
            <a:r>
              <a:rPr lang="en-US" sz="1100" b="1" kern="0" spc="160" dirty="0">
                <a:solidFill>
                  <a:srgbClr val="9CA3AF"/>
                </a:solidFill>
                <a:latin typeface="Segoe UI" pitchFamily="34" charset="0"/>
                <a:ea typeface="Segoe UI" pitchFamily="34" charset="-122"/>
                <a:cs typeface="Segoe UI" pitchFamily="34" charset="-120"/>
              </a:rPr>
              <a:t>READING THE INTERFACE</a:t>
            </a:r>
            <a:endParaRPr lang="en-US" sz="1100" dirty="0"/>
          </a:p>
        </p:txBody>
      </p:sp>
      <p:sp>
        <p:nvSpPr>
          <p:cNvPr id="4" name="Text 2"/>
          <p:cNvSpPr/>
          <p:nvPr/>
        </p:nvSpPr>
        <p:spPr>
          <a:xfrm>
            <a:off x="685800" y="1005840"/>
            <a:ext cx="10789920" cy="548640"/>
          </a:xfrm>
          <a:prstGeom prst="rect">
            <a:avLst/>
          </a:prstGeom>
          <a:noFill/>
          <a:ln/>
        </p:spPr>
        <p:txBody>
          <a:bodyPr wrap="square" rtlCol="0" anchor="ctr"/>
          <a:lstStyle/>
          <a:p>
            <a:pPr marL="0" indent="0">
              <a:buNone/>
            </a:pPr>
            <a:r>
              <a:rPr lang="en-US" sz="3000" b="1" dirty="0">
                <a:solidFill>
                  <a:srgbClr val="18181B"/>
                </a:solidFill>
                <a:latin typeface="Segoe UI" pitchFamily="34" charset="0"/>
                <a:ea typeface="Segoe UI" pitchFamily="34" charset="-122"/>
                <a:cs typeface="Segoe UI" pitchFamily="34" charset="-120"/>
              </a:rPr>
              <a:t>How to Tell Which Role Is on Screen</a:t>
            </a:r>
            <a:endParaRPr lang="en-US" sz="3000" dirty="0"/>
          </a:p>
        </p:txBody>
      </p:sp>
      <p:sp>
        <p:nvSpPr>
          <p:cNvPr id="5" name="Text 3"/>
          <p:cNvSpPr/>
          <p:nvPr/>
        </p:nvSpPr>
        <p:spPr>
          <a:xfrm>
            <a:off x="713232" y="1664208"/>
            <a:ext cx="10789920" cy="292608"/>
          </a:xfrm>
          <a:prstGeom prst="rect">
            <a:avLst/>
          </a:prstGeom>
          <a:noFill/>
          <a:ln/>
        </p:spPr>
        <p:txBody>
          <a:bodyPr wrap="square" rtlCol="0" anchor="ctr"/>
          <a:lstStyle/>
          <a:p>
            <a:pPr marL="0" indent="0">
              <a:buNone/>
            </a:pPr>
            <a:r>
              <a:rPr lang="en-US" sz="1400" dirty="0">
                <a:solidFill>
                  <a:srgbClr val="6B7280"/>
                </a:solidFill>
                <a:latin typeface="Segoe UI" pitchFamily="34" charset="0"/>
                <a:ea typeface="Segoe UI" pitchFamily="34" charset="-122"/>
                <a:cs typeface="Segoe UI" pitchFamily="34" charset="-120"/>
              </a:rPr>
              <a:t>Every role shares one interface. Only the sidebar colour and the number of menu items change.</a:t>
            </a:r>
            <a:endParaRPr lang="en-US" sz="1400" dirty="0"/>
          </a:p>
        </p:txBody>
      </p:sp>
      <p:sp>
        <p:nvSpPr>
          <p:cNvPr id="6" name="Shape 4"/>
          <p:cNvSpPr/>
          <p:nvPr/>
        </p:nvSpPr>
        <p:spPr>
          <a:xfrm>
            <a:off x="1534044" y="2194560"/>
            <a:ext cx="1168328" cy="2395728"/>
          </a:xfrm>
          <a:prstGeom prst="rect">
            <a:avLst/>
          </a:prstGeom>
          <a:solidFill>
            <a:srgbClr val="FAFAFA"/>
          </a:solidFill>
          <a:ln w="15875">
            <a:solidFill>
              <a:srgbClr val="CBD5E1"/>
            </a:solidFill>
            <a:prstDash val="dash"/>
          </a:ln>
        </p:spPr>
      </p:sp>
      <p:sp>
        <p:nvSpPr>
          <p:cNvPr id="7" name="Text 5"/>
          <p:cNvSpPr/>
          <p:nvPr/>
        </p:nvSpPr>
        <p:spPr>
          <a:xfrm>
            <a:off x="1377544" y="2194560"/>
            <a:ext cx="1324828" cy="2395728"/>
          </a:xfrm>
          <a:prstGeom prst="rect">
            <a:avLst/>
          </a:prstGeom>
          <a:noFill/>
          <a:ln/>
        </p:spPr>
        <p:txBody>
          <a:bodyPr wrap="square" rtlCol="0" anchor="ctr"/>
          <a:lstStyle/>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Paste</a:t>
            </a:r>
            <a:endParaRPr lang="en-US" sz="1000" dirty="0"/>
          </a:p>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Owner</a:t>
            </a:r>
            <a:endParaRPr lang="en-US" sz="1000" dirty="0"/>
          </a:p>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sidebar</a:t>
            </a:r>
            <a:endParaRPr lang="en-US" sz="1000" dirty="0"/>
          </a:p>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screenshot</a:t>
            </a:r>
            <a:endParaRPr lang="en-US" sz="1000" dirty="0"/>
          </a:p>
        </p:txBody>
      </p:sp>
      <p:sp>
        <p:nvSpPr>
          <p:cNvPr id="8" name="Shape 6"/>
          <p:cNvSpPr/>
          <p:nvPr/>
        </p:nvSpPr>
        <p:spPr>
          <a:xfrm>
            <a:off x="1962760" y="4754880"/>
            <a:ext cx="310896" cy="310896"/>
          </a:xfrm>
          <a:prstGeom prst="roundRect">
            <a:avLst>
              <a:gd name="adj" fmla="val 29412"/>
            </a:avLst>
          </a:prstGeom>
          <a:solidFill>
            <a:srgbClr val="FFFFFF"/>
          </a:solidFill>
          <a:ln w="12700">
            <a:solidFill>
              <a:srgbClr val="D1D5DB"/>
            </a:solidFill>
            <a:prstDash val="solid"/>
          </a:ln>
        </p:spPr>
      </p:sp>
      <p:sp>
        <p:nvSpPr>
          <p:cNvPr id="9" name="Text 7"/>
          <p:cNvSpPr/>
          <p:nvPr/>
        </p:nvSpPr>
        <p:spPr>
          <a:xfrm>
            <a:off x="874624" y="5157216"/>
            <a:ext cx="2487168" cy="292608"/>
          </a:xfrm>
          <a:prstGeom prst="rect">
            <a:avLst/>
          </a:prstGeom>
          <a:noFill/>
          <a:ln/>
        </p:spPr>
        <p:txBody>
          <a:bodyPr wrap="square" rtlCol="0" anchor="ctr"/>
          <a:lstStyle/>
          <a:p>
            <a:pPr marL="0" indent="0" algn="ctr">
              <a:buNone/>
            </a:pPr>
            <a:r>
              <a:rPr lang="en-US" sz="1500" b="1" dirty="0">
                <a:solidFill>
                  <a:srgbClr val="18181B"/>
                </a:solidFill>
                <a:latin typeface="Segoe UI" pitchFamily="34" charset="0"/>
                <a:ea typeface="Segoe UI" pitchFamily="34" charset="-122"/>
                <a:cs typeface="Segoe UI" pitchFamily="34" charset="-120"/>
              </a:rPr>
              <a:t>Owner</a:t>
            </a:r>
            <a:endParaRPr lang="en-US" sz="1500" dirty="0"/>
          </a:p>
        </p:txBody>
      </p:sp>
      <p:sp>
        <p:nvSpPr>
          <p:cNvPr id="10" name="Text 8"/>
          <p:cNvSpPr/>
          <p:nvPr/>
        </p:nvSpPr>
        <p:spPr>
          <a:xfrm>
            <a:off x="874624" y="5431536"/>
            <a:ext cx="2487168" cy="256032"/>
          </a:xfrm>
          <a:prstGeom prst="rect">
            <a:avLst/>
          </a:prstGeom>
          <a:noFill/>
          <a:ln/>
        </p:spPr>
        <p:txBody>
          <a:bodyPr wrap="square" rtlCol="0" anchor="ctr"/>
          <a:lstStyle/>
          <a:p>
            <a:pPr marL="0" indent="0" algn="ctr">
              <a:buNone/>
            </a:pPr>
            <a:r>
              <a:rPr lang="en-US" sz="1150" b="1" dirty="0">
                <a:solidFill>
                  <a:srgbClr val="F97316"/>
                </a:solidFill>
                <a:latin typeface="Segoe UI" pitchFamily="34" charset="0"/>
                <a:ea typeface="Segoe UI" pitchFamily="34" charset="-122"/>
                <a:cs typeface="Segoe UI" pitchFamily="34" charset="-120"/>
              </a:rPr>
              <a:t>White  ·  8 items</a:t>
            </a:r>
            <a:endParaRPr lang="en-US" sz="1150" dirty="0"/>
          </a:p>
        </p:txBody>
      </p:sp>
      <p:sp>
        <p:nvSpPr>
          <p:cNvPr id="11" name="Text 9"/>
          <p:cNvSpPr/>
          <p:nvPr/>
        </p:nvSpPr>
        <p:spPr>
          <a:xfrm>
            <a:off x="810616" y="5705856"/>
            <a:ext cx="2615184" cy="713232"/>
          </a:xfrm>
          <a:prstGeom prst="rect">
            <a:avLst/>
          </a:prstGeom>
          <a:noFill/>
          <a:ln/>
        </p:spPr>
        <p:txBody>
          <a:bodyPr wrap="square" rtlCol="0" anchor="ctr"/>
          <a:lstStyle/>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Dashboard · Shifts · Tasks · Company</a:t>
            </a:r>
            <a:endParaRPr lang="en-US" sz="950" dirty="0"/>
          </a:p>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Communication · Recruitment</a:t>
            </a:r>
            <a:endParaRPr lang="en-US" sz="950" dirty="0"/>
          </a:p>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Attendance · Report</a:t>
            </a:r>
            <a:endParaRPr lang="en-US" sz="950" dirty="0"/>
          </a:p>
        </p:txBody>
      </p:sp>
      <p:sp>
        <p:nvSpPr>
          <p:cNvPr id="12" name="Shape 10"/>
          <p:cNvSpPr/>
          <p:nvPr/>
        </p:nvSpPr>
        <p:spPr>
          <a:xfrm>
            <a:off x="4182977" y="2194560"/>
            <a:ext cx="1173982" cy="1658652"/>
          </a:xfrm>
          <a:prstGeom prst="rect">
            <a:avLst/>
          </a:prstGeom>
          <a:solidFill>
            <a:srgbClr val="FAFAFA"/>
          </a:solidFill>
          <a:ln w="15875">
            <a:solidFill>
              <a:srgbClr val="CBD5E1"/>
            </a:solidFill>
            <a:prstDash val="dash"/>
          </a:ln>
        </p:spPr>
      </p:sp>
      <p:sp>
        <p:nvSpPr>
          <p:cNvPr id="13" name="Text 11"/>
          <p:cNvSpPr/>
          <p:nvPr/>
        </p:nvSpPr>
        <p:spPr>
          <a:xfrm>
            <a:off x="4029304" y="2194560"/>
            <a:ext cx="1481328" cy="2395728"/>
          </a:xfrm>
          <a:prstGeom prst="rect">
            <a:avLst/>
          </a:prstGeom>
          <a:noFill/>
          <a:ln/>
        </p:spPr>
        <p:txBody>
          <a:bodyPr wrap="square" rtlCol="0" anchor="ctr"/>
          <a:lstStyle/>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Paste</a:t>
            </a:r>
            <a:endParaRPr lang="en-US" sz="1000" dirty="0"/>
          </a:p>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Manager</a:t>
            </a:r>
            <a:endParaRPr lang="en-US" sz="1000" dirty="0"/>
          </a:p>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sidebar</a:t>
            </a:r>
            <a:endParaRPr lang="en-US" sz="1000" dirty="0"/>
          </a:p>
          <a:p>
            <a:pPr marL="0" indent="0" algn="ctr">
              <a:lnSpc>
                <a:spcPct val="130000"/>
              </a:lnSpc>
              <a:buNone/>
            </a:pPr>
            <a:r>
              <a:rPr lang="en-US" sz="1000" dirty="0">
                <a:solidFill>
                  <a:srgbClr val="9CA3AF"/>
                </a:solidFill>
                <a:latin typeface="Segoe UI" pitchFamily="34" charset="0"/>
                <a:ea typeface="Segoe UI" pitchFamily="34" charset="-122"/>
                <a:cs typeface="Segoe UI" pitchFamily="34" charset="-120"/>
              </a:rPr>
              <a:t>screenshot</a:t>
            </a:r>
            <a:endParaRPr lang="en-US" sz="1000" dirty="0"/>
          </a:p>
        </p:txBody>
      </p:sp>
      <p:sp>
        <p:nvSpPr>
          <p:cNvPr id="14" name="Shape 12"/>
          <p:cNvSpPr/>
          <p:nvPr/>
        </p:nvSpPr>
        <p:spPr>
          <a:xfrm>
            <a:off x="4614520" y="4754880"/>
            <a:ext cx="310896" cy="310896"/>
          </a:xfrm>
          <a:prstGeom prst="roundRect">
            <a:avLst>
              <a:gd name="adj" fmla="val 29412"/>
            </a:avLst>
          </a:prstGeom>
          <a:solidFill>
            <a:srgbClr val="1E3A5F"/>
          </a:solidFill>
          <a:ln w="12700">
            <a:solidFill>
              <a:srgbClr val="1E3A5F"/>
            </a:solidFill>
            <a:prstDash val="solid"/>
          </a:ln>
        </p:spPr>
      </p:sp>
      <p:sp>
        <p:nvSpPr>
          <p:cNvPr id="15" name="Text 13"/>
          <p:cNvSpPr/>
          <p:nvPr/>
        </p:nvSpPr>
        <p:spPr>
          <a:xfrm>
            <a:off x="3526384" y="5157216"/>
            <a:ext cx="2487168" cy="292608"/>
          </a:xfrm>
          <a:prstGeom prst="rect">
            <a:avLst/>
          </a:prstGeom>
          <a:noFill/>
          <a:ln/>
        </p:spPr>
        <p:txBody>
          <a:bodyPr wrap="square" rtlCol="0" anchor="ctr"/>
          <a:lstStyle/>
          <a:p>
            <a:pPr marL="0" indent="0" algn="ctr">
              <a:buNone/>
            </a:pPr>
            <a:r>
              <a:rPr lang="en-US" sz="1500" b="1" dirty="0">
                <a:solidFill>
                  <a:srgbClr val="18181B"/>
                </a:solidFill>
                <a:latin typeface="Segoe UI" pitchFamily="34" charset="0"/>
                <a:ea typeface="Segoe UI" pitchFamily="34" charset="-122"/>
                <a:cs typeface="Segoe UI" pitchFamily="34" charset="-120"/>
              </a:rPr>
              <a:t>Manager</a:t>
            </a:r>
            <a:endParaRPr lang="en-US" sz="1500" dirty="0"/>
          </a:p>
        </p:txBody>
      </p:sp>
      <p:sp>
        <p:nvSpPr>
          <p:cNvPr id="16" name="Text 14"/>
          <p:cNvSpPr/>
          <p:nvPr/>
        </p:nvSpPr>
        <p:spPr>
          <a:xfrm>
            <a:off x="3526384" y="5431536"/>
            <a:ext cx="2487168" cy="256032"/>
          </a:xfrm>
          <a:prstGeom prst="rect">
            <a:avLst/>
          </a:prstGeom>
          <a:noFill/>
          <a:ln/>
        </p:spPr>
        <p:txBody>
          <a:bodyPr wrap="square" rtlCol="0" anchor="ctr"/>
          <a:lstStyle/>
          <a:p>
            <a:pPr marL="0" indent="0" algn="ctr">
              <a:buNone/>
            </a:pPr>
            <a:r>
              <a:rPr lang="en-US" sz="1150" b="1" dirty="0">
                <a:solidFill>
                  <a:srgbClr val="F97316"/>
                </a:solidFill>
                <a:latin typeface="Segoe UI" pitchFamily="34" charset="0"/>
                <a:ea typeface="Segoe UI" pitchFamily="34" charset="-122"/>
                <a:cs typeface="Segoe UI" pitchFamily="34" charset="-120"/>
              </a:rPr>
              <a:t>Navy blue  ·  5 items</a:t>
            </a:r>
            <a:endParaRPr lang="en-US" sz="1150" dirty="0"/>
          </a:p>
        </p:txBody>
      </p:sp>
      <p:sp>
        <p:nvSpPr>
          <p:cNvPr id="17" name="Text 15"/>
          <p:cNvSpPr/>
          <p:nvPr/>
        </p:nvSpPr>
        <p:spPr>
          <a:xfrm>
            <a:off x="3462376" y="5705856"/>
            <a:ext cx="2615184" cy="713232"/>
          </a:xfrm>
          <a:prstGeom prst="rect">
            <a:avLst/>
          </a:prstGeom>
          <a:noFill/>
          <a:ln/>
        </p:spPr>
        <p:txBody>
          <a:bodyPr wrap="square" rtlCol="0" anchor="ctr"/>
          <a:lstStyle/>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Dashboard · Shifts · Tasks</a:t>
            </a:r>
            <a:endParaRPr lang="en-US" sz="950" dirty="0"/>
          </a:p>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Communication · Recruitment</a:t>
            </a:r>
            <a:endParaRPr lang="en-US" sz="950" dirty="0"/>
          </a:p>
        </p:txBody>
      </p:sp>
      <p:sp>
        <p:nvSpPr>
          <p:cNvPr id="18" name="Shape 16"/>
          <p:cNvSpPr/>
          <p:nvPr/>
        </p:nvSpPr>
        <p:spPr>
          <a:xfrm>
            <a:off x="6837564" y="2194560"/>
            <a:ext cx="1176587" cy="1424857"/>
          </a:xfrm>
          <a:prstGeom prst="rect">
            <a:avLst/>
          </a:prstGeom>
          <a:solidFill>
            <a:srgbClr val="FAFAFA"/>
          </a:solidFill>
          <a:ln w="15875">
            <a:solidFill>
              <a:srgbClr val="CBD5E1"/>
            </a:solidFill>
            <a:prstDash val="dash"/>
          </a:ln>
        </p:spPr>
      </p:sp>
      <p:sp>
        <p:nvSpPr>
          <p:cNvPr id="19" name="Text 17"/>
          <p:cNvSpPr/>
          <p:nvPr/>
        </p:nvSpPr>
        <p:spPr>
          <a:xfrm>
            <a:off x="6681064" y="2194560"/>
            <a:ext cx="1481328" cy="2395728"/>
          </a:xfrm>
          <a:prstGeom prst="rect">
            <a:avLst/>
          </a:prstGeom>
          <a:noFill/>
          <a:ln/>
        </p:spPr>
        <p:txBody>
          <a:bodyPr wrap="square" rtlCol="0" anchor="ctr"/>
          <a:lstStyle/>
          <a:p>
            <a:pPr marL="0" indent="0" algn="ctr">
              <a:lnSpc>
                <a:spcPct val="130000"/>
              </a:lnSpc>
              <a:buNone/>
            </a:pPr>
            <a:endParaRPr lang="en-US" sz="1000" dirty="0"/>
          </a:p>
        </p:txBody>
      </p:sp>
      <p:sp>
        <p:nvSpPr>
          <p:cNvPr id="20" name="Shape 18"/>
          <p:cNvSpPr/>
          <p:nvPr/>
        </p:nvSpPr>
        <p:spPr>
          <a:xfrm>
            <a:off x="7266280" y="4754880"/>
            <a:ext cx="310896" cy="310896"/>
          </a:xfrm>
          <a:prstGeom prst="roundRect">
            <a:avLst>
              <a:gd name="adj" fmla="val 29412"/>
            </a:avLst>
          </a:prstGeom>
          <a:solidFill>
            <a:srgbClr val="14532D"/>
          </a:solidFill>
          <a:ln w="12700">
            <a:solidFill>
              <a:srgbClr val="14532D"/>
            </a:solidFill>
            <a:prstDash val="solid"/>
          </a:ln>
        </p:spPr>
      </p:sp>
      <p:sp>
        <p:nvSpPr>
          <p:cNvPr id="21" name="Text 19"/>
          <p:cNvSpPr/>
          <p:nvPr/>
        </p:nvSpPr>
        <p:spPr>
          <a:xfrm>
            <a:off x="6178144" y="5157216"/>
            <a:ext cx="2487168" cy="292608"/>
          </a:xfrm>
          <a:prstGeom prst="rect">
            <a:avLst/>
          </a:prstGeom>
          <a:noFill/>
          <a:ln/>
        </p:spPr>
        <p:txBody>
          <a:bodyPr wrap="square" rtlCol="0" anchor="ctr"/>
          <a:lstStyle/>
          <a:p>
            <a:pPr marL="0" indent="0" algn="ctr">
              <a:buNone/>
            </a:pPr>
            <a:r>
              <a:rPr lang="en-US" sz="1500" b="1" dirty="0">
                <a:solidFill>
                  <a:srgbClr val="18181B"/>
                </a:solidFill>
                <a:latin typeface="Segoe UI" pitchFamily="34" charset="0"/>
                <a:ea typeface="Segoe UI" pitchFamily="34" charset="-122"/>
                <a:cs typeface="Segoe UI" pitchFamily="34" charset="-120"/>
              </a:rPr>
              <a:t>Employee</a:t>
            </a:r>
            <a:endParaRPr lang="en-US" sz="1500" dirty="0"/>
          </a:p>
        </p:txBody>
      </p:sp>
      <p:sp>
        <p:nvSpPr>
          <p:cNvPr id="22" name="Text 20"/>
          <p:cNvSpPr/>
          <p:nvPr/>
        </p:nvSpPr>
        <p:spPr>
          <a:xfrm>
            <a:off x="6178144" y="5431536"/>
            <a:ext cx="2487168" cy="256032"/>
          </a:xfrm>
          <a:prstGeom prst="rect">
            <a:avLst/>
          </a:prstGeom>
          <a:noFill/>
          <a:ln/>
        </p:spPr>
        <p:txBody>
          <a:bodyPr wrap="square" rtlCol="0" anchor="ctr"/>
          <a:lstStyle/>
          <a:p>
            <a:pPr marL="0" indent="0" algn="ctr">
              <a:buNone/>
            </a:pPr>
            <a:r>
              <a:rPr lang="en-US" sz="1150" b="1" dirty="0">
                <a:solidFill>
                  <a:srgbClr val="F97316"/>
                </a:solidFill>
                <a:latin typeface="Segoe UI" pitchFamily="34" charset="0"/>
                <a:ea typeface="Segoe UI" pitchFamily="34" charset="-122"/>
                <a:cs typeface="Segoe UI" pitchFamily="34" charset="-120"/>
              </a:rPr>
              <a:t>Dark green  ·  4 items</a:t>
            </a:r>
            <a:endParaRPr lang="en-US" sz="1150" dirty="0"/>
          </a:p>
        </p:txBody>
      </p:sp>
      <p:sp>
        <p:nvSpPr>
          <p:cNvPr id="23" name="Text 21"/>
          <p:cNvSpPr/>
          <p:nvPr/>
        </p:nvSpPr>
        <p:spPr>
          <a:xfrm>
            <a:off x="6114136" y="5705856"/>
            <a:ext cx="2615184" cy="713232"/>
          </a:xfrm>
          <a:prstGeom prst="rect">
            <a:avLst/>
          </a:prstGeom>
          <a:noFill/>
          <a:ln/>
        </p:spPr>
        <p:txBody>
          <a:bodyPr wrap="square" rtlCol="0" anchor="ctr"/>
          <a:lstStyle/>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Dashboard · Shifts</a:t>
            </a:r>
            <a:endParaRPr lang="en-US" sz="950" dirty="0"/>
          </a:p>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Tasks · Communication</a:t>
            </a:r>
            <a:endParaRPr lang="en-US" sz="950" dirty="0"/>
          </a:p>
        </p:txBody>
      </p:sp>
      <p:sp>
        <p:nvSpPr>
          <p:cNvPr id="24" name="Shape 22"/>
          <p:cNvSpPr/>
          <p:nvPr/>
        </p:nvSpPr>
        <p:spPr>
          <a:xfrm>
            <a:off x="9489628" y="2194560"/>
            <a:ext cx="1168328" cy="1424857"/>
          </a:xfrm>
          <a:prstGeom prst="rect">
            <a:avLst/>
          </a:prstGeom>
          <a:solidFill>
            <a:srgbClr val="FAFAFA"/>
          </a:solidFill>
          <a:ln w="15875">
            <a:solidFill>
              <a:srgbClr val="CBD5E1"/>
            </a:solidFill>
            <a:prstDash val="dash"/>
          </a:ln>
        </p:spPr>
      </p:sp>
      <p:sp>
        <p:nvSpPr>
          <p:cNvPr id="25" name="Text 23"/>
          <p:cNvSpPr/>
          <p:nvPr/>
        </p:nvSpPr>
        <p:spPr>
          <a:xfrm>
            <a:off x="9332824" y="2194560"/>
            <a:ext cx="1481328" cy="2395728"/>
          </a:xfrm>
          <a:prstGeom prst="rect">
            <a:avLst/>
          </a:prstGeom>
          <a:noFill/>
          <a:ln/>
        </p:spPr>
        <p:txBody>
          <a:bodyPr wrap="square" rtlCol="0" anchor="ctr"/>
          <a:lstStyle/>
          <a:p>
            <a:pPr marL="0" indent="0" algn="ctr">
              <a:lnSpc>
                <a:spcPct val="130000"/>
              </a:lnSpc>
              <a:buNone/>
            </a:pPr>
            <a:endParaRPr lang="en-US" sz="1000" dirty="0"/>
          </a:p>
        </p:txBody>
      </p:sp>
      <p:sp>
        <p:nvSpPr>
          <p:cNvPr id="26" name="Shape 24"/>
          <p:cNvSpPr/>
          <p:nvPr/>
        </p:nvSpPr>
        <p:spPr>
          <a:xfrm>
            <a:off x="9918040" y="4754880"/>
            <a:ext cx="310896" cy="310896"/>
          </a:xfrm>
          <a:prstGeom prst="roundRect">
            <a:avLst>
              <a:gd name="adj" fmla="val 29412"/>
            </a:avLst>
          </a:prstGeom>
          <a:solidFill>
            <a:srgbClr val="FFFFFF"/>
          </a:solidFill>
          <a:ln w="12700">
            <a:solidFill>
              <a:srgbClr val="D1D5DB"/>
            </a:solidFill>
            <a:prstDash val="solid"/>
          </a:ln>
        </p:spPr>
      </p:sp>
      <p:sp>
        <p:nvSpPr>
          <p:cNvPr id="27" name="Text 25"/>
          <p:cNvSpPr/>
          <p:nvPr/>
        </p:nvSpPr>
        <p:spPr>
          <a:xfrm>
            <a:off x="8829904" y="5157216"/>
            <a:ext cx="2487168" cy="292608"/>
          </a:xfrm>
          <a:prstGeom prst="rect">
            <a:avLst/>
          </a:prstGeom>
          <a:noFill/>
          <a:ln/>
        </p:spPr>
        <p:txBody>
          <a:bodyPr wrap="square" rtlCol="0" anchor="ctr"/>
          <a:lstStyle/>
          <a:p>
            <a:pPr marL="0" indent="0" algn="ctr">
              <a:buNone/>
            </a:pPr>
            <a:r>
              <a:rPr lang="en-US" sz="1500" b="1" dirty="0">
                <a:solidFill>
                  <a:srgbClr val="18181B"/>
                </a:solidFill>
                <a:latin typeface="Segoe UI" pitchFamily="34" charset="0"/>
                <a:ea typeface="Segoe UI" pitchFamily="34" charset="-122"/>
                <a:cs typeface="Segoe UI" pitchFamily="34" charset="-120"/>
              </a:rPr>
              <a:t>Casual Worker</a:t>
            </a:r>
            <a:endParaRPr lang="en-US" sz="1500" dirty="0"/>
          </a:p>
        </p:txBody>
      </p:sp>
      <p:sp>
        <p:nvSpPr>
          <p:cNvPr id="28" name="Text 26"/>
          <p:cNvSpPr/>
          <p:nvPr/>
        </p:nvSpPr>
        <p:spPr>
          <a:xfrm>
            <a:off x="8829904" y="5431536"/>
            <a:ext cx="2487168" cy="256032"/>
          </a:xfrm>
          <a:prstGeom prst="rect">
            <a:avLst/>
          </a:prstGeom>
          <a:noFill/>
          <a:ln/>
        </p:spPr>
        <p:txBody>
          <a:bodyPr wrap="square" rtlCol="0" anchor="ctr"/>
          <a:lstStyle/>
          <a:p>
            <a:pPr marL="0" indent="0" algn="ctr">
              <a:buNone/>
            </a:pPr>
            <a:r>
              <a:rPr lang="en-US" sz="1150" b="1" dirty="0">
                <a:solidFill>
                  <a:srgbClr val="F97316"/>
                </a:solidFill>
                <a:latin typeface="Segoe UI" pitchFamily="34" charset="0"/>
                <a:ea typeface="Segoe UI" pitchFamily="34" charset="-122"/>
                <a:cs typeface="Segoe UI" pitchFamily="34" charset="-120"/>
              </a:rPr>
              <a:t>White  ·  4 items</a:t>
            </a:r>
            <a:endParaRPr lang="en-US" sz="1150" dirty="0"/>
          </a:p>
        </p:txBody>
      </p:sp>
      <p:sp>
        <p:nvSpPr>
          <p:cNvPr id="29" name="Text 27"/>
          <p:cNvSpPr/>
          <p:nvPr/>
        </p:nvSpPr>
        <p:spPr>
          <a:xfrm>
            <a:off x="8765896" y="5705856"/>
            <a:ext cx="2615184" cy="713232"/>
          </a:xfrm>
          <a:prstGeom prst="rect">
            <a:avLst/>
          </a:prstGeom>
          <a:noFill/>
          <a:ln/>
        </p:spPr>
        <p:txBody>
          <a:bodyPr wrap="square" rtlCol="0" anchor="ctr"/>
          <a:lstStyle/>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Dashboard · Attendance</a:t>
            </a:r>
            <a:endParaRPr lang="en-US" sz="950" dirty="0"/>
          </a:p>
          <a:p>
            <a:pPr marL="0" indent="0" algn="ctr">
              <a:lnSpc>
                <a:spcPct val="120000"/>
              </a:lnSpc>
              <a:buNone/>
            </a:pPr>
            <a:r>
              <a:rPr lang="en-US" sz="950" dirty="0">
                <a:solidFill>
                  <a:srgbClr val="9CA3AF"/>
                </a:solidFill>
                <a:latin typeface="Segoe UI" pitchFamily="34" charset="0"/>
                <a:ea typeface="Segoe UI" pitchFamily="34" charset="-122"/>
                <a:cs typeface="Segoe UI" pitchFamily="34" charset="-120"/>
              </a:rPr>
              <a:t>Applications · Profile</a:t>
            </a:r>
            <a:endParaRPr lang="en-US" sz="950" dirty="0"/>
          </a:p>
        </p:txBody>
      </p:sp>
      <p:pic>
        <p:nvPicPr>
          <p:cNvPr id="33" name="Picture 32">
            <a:extLst>
              <a:ext uri="{FF2B5EF4-FFF2-40B4-BE49-F238E27FC236}">
                <a16:creationId xmlns:a16="http://schemas.microsoft.com/office/drawing/2014/main" id="{4ADC50BC-8726-FFFF-F06C-D68C37402CF3}"/>
              </a:ext>
            </a:extLst>
          </p:cNvPr>
          <p:cNvPicPr>
            <a:picLocks noChangeAspect="1"/>
          </p:cNvPicPr>
          <p:nvPr/>
        </p:nvPicPr>
        <p:blipFill>
          <a:blip r:embed="rId3"/>
          <a:stretch>
            <a:fillRect/>
          </a:stretch>
        </p:blipFill>
        <p:spPr>
          <a:xfrm>
            <a:off x="1534044" y="2194561"/>
            <a:ext cx="1168328" cy="2393822"/>
          </a:xfrm>
          <a:prstGeom prst="rect">
            <a:avLst/>
          </a:prstGeom>
        </p:spPr>
      </p:pic>
      <p:pic>
        <p:nvPicPr>
          <p:cNvPr id="35" name="Picture 34">
            <a:extLst>
              <a:ext uri="{FF2B5EF4-FFF2-40B4-BE49-F238E27FC236}">
                <a16:creationId xmlns:a16="http://schemas.microsoft.com/office/drawing/2014/main" id="{28E06127-B955-5FE7-9201-EEDFF9002B64}"/>
              </a:ext>
            </a:extLst>
          </p:cNvPr>
          <p:cNvPicPr>
            <a:picLocks noChangeAspect="1"/>
          </p:cNvPicPr>
          <p:nvPr/>
        </p:nvPicPr>
        <p:blipFill>
          <a:blip r:embed="rId4"/>
          <a:stretch>
            <a:fillRect/>
          </a:stretch>
        </p:blipFill>
        <p:spPr>
          <a:xfrm>
            <a:off x="4182977" y="2194561"/>
            <a:ext cx="1173981" cy="1658652"/>
          </a:xfrm>
          <a:prstGeom prst="rect">
            <a:avLst/>
          </a:prstGeom>
        </p:spPr>
      </p:pic>
      <p:pic>
        <p:nvPicPr>
          <p:cNvPr id="37" name="Picture 36">
            <a:extLst>
              <a:ext uri="{FF2B5EF4-FFF2-40B4-BE49-F238E27FC236}">
                <a16:creationId xmlns:a16="http://schemas.microsoft.com/office/drawing/2014/main" id="{E755B4CB-8E00-0EF4-1A4A-550254A79258}"/>
              </a:ext>
            </a:extLst>
          </p:cNvPr>
          <p:cNvPicPr>
            <a:picLocks noChangeAspect="1"/>
          </p:cNvPicPr>
          <p:nvPr/>
        </p:nvPicPr>
        <p:blipFill>
          <a:blip r:embed="rId5"/>
          <a:stretch>
            <a:fillRect/>
          </a:stretch>
        </p:blipFill>
        <p:spPr>
          <a:xfrm>
            <a:off x="6837564" y="2194560"/>
            <a:ext cx="1176587" cy="1424857"/>
          </a:xfrm>
          <a:prstGeom prst="rect">
            <a:avLst/>
          </a:prstGeom>
        </p:spPr>
      </p:pic>
      <p:pic>
        <p:nvPicPr>
          <p:cNvPr id="39" name="Picture 38">
            <a:extLst>
              <a:ext uri="{FF2B5EF4-FFF2-40B4-BE49-F238E27FC236}">
                <a16:creationId xmlns:a16="http://schemas.microsoft.com/office/drawing/2014/main" id="{2EC9457E-6F6A-0953-2DD5-4F0AC87918D5}"/>
              </a:ext>
            </a:extLst>
          </p:cNvPr>
          <p:cNvPicPr>
            <a:picLocks noChangeAspect="1"/>
          </p:cNvPicPr>
          <p:nvPr/>
        </p:nvPicPr>
        <p:blipFill>
          <a:blip r:embed="rId6"/>
          <a:stretch>
            <a:fillRect/>
          </a:stretch>
        </p:blipFill>
        <p:spPr>
          <a:xfrm>
            <a:off x="9489628" y="2189336"/>
            <a:ext cx="1168328" cy="138204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566928"/>
            <a:ext cx="384048" cy="68580"/>
          </a:xfrm>
          <a:prstGeom prst="rect">
            <a:avLst/>
          </a:prstGeom>
          <a:solidFill>
            <a:srgbClr val="F97316"/>
          </a:solidFill>
          <a:ln/>
        </p:spPr>
      </p:sp>
      <p:sp>
        <p:nvSpPr>
          <p:cNvPr id="3" name="Text 1"/>
          <p:cNvSpPr/>
          <p:nvPr/>
        </p:nvSpPr>
        <p:spPr>
          <a:xfrm>
            <a:off x="685800" y="731520"/>
            <a:ext cx="10789920" cy="274320"/>
          </a:xfrm>
          <a:prstGeom prst="rect">
            <a:avLst/>
          </a:prstGeom>
          <a:noFill/>
          <a:ln/>
        </p:spPr>
        <p:txBody>
          <a:bodyPr wrap="square" rtlCol="0" anchor="ctr"/>
          <a:lstStyle/>
          <a:p>
            <a:pPr marL="0" indent="0">
              <a:buNone/>
            </a:pPr>
            <a:r>
              <a:rPr lang="en-US" sz="1100" b="1" kern="0" spc="160" dirty="0">
                <a:solidFill>
                  <a:srgbClr val="9CA3AF"/>
                </a:solidFill>
                <a:latin typeface="Segoe UI" pitchFamily="34" charset="0"/>
                <a:ea typeface="Segoe UI" pitchFamily="34" charset="-122"/>
                <a:cs typeface="Segoe UI" pitchFamily="34" charset="-120"/>
              </a:rPr>
              <a:t>SYSTEM MAP</a:t>
            </a:r>
            <a:endParaRPr lang="en-US" sz="1100" dirty="0"/>
          </a:p>
        </p:txBody>
      </p:sp>
      <p:sp>
        <p:nvSpPr>
          <p:cNvPr id="4" name="Text 2"/>
          <p:cNvSpPr/>
          <p:nvPr/>
        </p:nvSpPr>
        <p:spPr>
          <a:xfrm>
            <a:off x="685800" y="1005840"/>
            <a:ext cx="10789920" cy="548640"/>
          </a:xfrm>
          <a:prstGeom prst="rect">
            <a:avLst/>
          </a:prstGeom>
          <a:noFill/>
          <a:ln/>
        </p:spPr>
        <p:txBody>
          <a:bodyPr wrap="square" rtlCol="0" anchor="ctr"/>
          <a:lstStyle/>
          <a:p>
            <a:pPr marL="0" indent="0">
              <a:buNone/>
            </a:pPr>
            <a:r>
              <a:rPr lang="en-US" sz="3000" b="1" dirty="0">
                <a:solidFill>
                  <a:srgbClr val="18181B"/>
                </a:solidFill>
                <a:latin typeface="Segoe UI" pitchFamily="34" charset="0"/>
                <a:ea typeface="Segoe UI" pitchFamily="34" charset="-122"/>
                <a:cs typeface="Segoe UI" pitchFamily="34" charset="-120"/>
              </a:rPr>
              <a:t>Eight Functional Modules</a:t>
            </a:r>
            <a:endParaRPr lang="en-US" sz="3000" dirty="0"/>
          </a:p>
        </p:txBody>
      </p:sp>
      <p:sp>
        <p:nvSpPr>
          <p:cNvPr id="5" name="Shape 3"/>
          <p:cNvSpPr/>
          <p:nvPr/>
        </p:nvSpPr>
        <p:spPr>
          <a:xfrm>
            <a:off x="822960" y="1874520"/>
            <a:ext cx="2331720" cy="841248"/>
          </a:xfrm>
          <a:prstGeom prst="roundRect">
            <a:avLst>
              <a:gd name="adj" fmla="val 6522"/>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6" name="Text 4"/>
          <p:cNvSpPr/>
          <p:nvPr/>
        </p:nvSpPr>
        <p:spPr>
          <a:xfrm>
            <a:off x="1005840" y="1993392"/>
            <a:ext cx="2011680" cy="310896"/>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Account &amp; Auth</a:t>
            </a:r>
            <a:endParaRPr lang="en-US" sz="1400" dirty="0"/>
          </a:p>
        </p:txBody>
      </p:sp>
      <p:sp>
        <p:nvSpPr>
          <p:cNvPr id="7" name="Text 5"/>
          <p:cNvSpPr/>
          <p:nvPr/>
        </p:nvSpPr>
        <p:spPr>
          <a:xfrm>
            <a:off x="1005840" y="2304288"/>
            <a:ext cx="2011680" cy="274320"/>
          </a:xfrm>
          <a:prstGeom prst="rect">
            <a:avLst/>
          </a:prstGeom>
          <a:noFill/>
          <a:ln/>
        </p:spPr>
        <p:txBody>
          <a:bodyPr wrap="square" rtlCol="0" anchor="ctr"/>
          <a:lstStyle/>
          <a:p>
            <a:pPr marL="0" indent="0">
              <a:buNone/>
            </a:pPr>
            <a:r>
              <a:rPr lang="en-US" sz="1000" dirty="0">
                <a:solidFill>
                  <a:srgbClr val="9CA3AF"/>
                </a:solidFill>
                <a:latin typeface="Segoe UI" pitchFamily="34" charset="0"/>
                <a:ea typeface="Segoe UI" pitchFamily="34" charset="-122"/>
                <a:cs typeface="Segoe UI" pitchFamily="34" charset="-120"/>
              </a:rPr>
              <a:t>Register · sign in</a:t>
            </a:r>
            <a:endParaRPr lang="en-US" sz="1000" dirty="0"/>
          </a:p>
        </p:txBody>
      </p:sp>
      <p:sp>
        <p:nvSpPr>
          <p:cNvPr id="8" name="Shape 6"/>
          <p:cNvSpPr/>
          <p:nvPr/>
        </p:nvSpPr>
        <p:spPr>
          <a:xfrm>
            <a:off x="3218688" y="2295144"/>
            <a:ext cx="457200" cy="0"/>
          </a:xfrm>
          <a:prstGeom prst="line">
            <a:avLst/>
          </a:prstGeom>
          <a:noFill/>
          <a:ln w="22225">
            <a:solidFill>
              <a:srgbClr val="9CA3AF"/>
            </a:solidFill>
            <a:prstDash val="solid"/>
            <a:tailEnd type="triangle"/>
          </a:ln>
        </p:spPr>
      </p:sp>
      <p:sp>
        <p:nvSpPr>
          <p:cNvPr id="9" name="Shape 7"/>
          <p:cNvSpPr/>
          <p:nvPr/>
        </p:nvSpPr>
        <p:spPr>
          <a:xfrm>
            <a:off x="3767328" y="1874520"/>
            <a:ext cx="2331720" cy="841248"/>
          </a:xfrm>
          <a:prstGeom prst="roundRect">
            <a:avLst>
              <a:gd name="adj" fmla="val 6522"/>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10" name="Text 8"/>
          <p:cNvSpPr/>
          <p:nvPr/>
        </p:nvSpPr>
        <p:spPr>
          <a:xfrm>
            <a:off x="3950208" y="1993392"/>
            <a:ext cx="2011680" cy="310896"/>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Team / Company</a:t>
            </a:r>
            <a:endParaRPr lang="en-US" sz="1400" dirty="0"/>
          </a:p>
        </p:txBody>
      </p:sp>
      <p:sp>
        <p:nvSpPr>
          <p:cNvPr id="11" name="Text 9"/>
          <p:cNvSpPr/>
          <p:nvPr/>
        </p:nvSpPr>
        <p:spPr>
          <a:xfrm>
            <a:off x="3950208" y="2304288"/>
            <a:ext cx="2011680" cy="274320"/>
          </a:xfrm>
          <a:prstGeom prst="rect">
            <a:avLst/>
          </a:prstGeom>
          <a:noFill/>
          <a:ln/>
        </p:spPr>
        <p:txBody>
          <a:bodyPr wrap="square" rtlCol="0" anchor="ctr"/>
          <a:lstStyle/>
          <a:p>
            <a:pPr marL="0" indent="0">
              <a:buNone/>
            </a:pPr>
            <a:r>
              <a:rPr lang="en-US" sz="1000" dirty="0">
                <a:solidFill>
                  <a:srgbClr val="9CA3AF"/>
                </a:solidFill>
                <a:latin typeface="Segoe UI" pitchFamily="34" charset="0"/>
                <a:ea typeface="Segoe UI" pitchFamily="34" charset="-122"/>
                <a:cs typeface="Segoe UI" pitchFamily="34" charset="-120"/>
              </a:rPr>
              <a:t>Departments · members</a:t>
            </a:r>
            <a:endParaRPr lang="en-US" sz="1000" dirty="0"/>
          </a:p>
        </p:txBody>
      </p:sp>
      <p:sp>
        <p:nvSpPr>
          <p:cNvPr id="12" name="Shape 10"/>
          <p:cNvSpPr/>
          <p:nvPr/>
        </p:nvSpPr>
        <p:spPr>
          <a:xfrm>
            <a:off x="6163056" y="2295144"/>
            <a:ext cx="457200" cy="0"/>
          </a:xfrm>
          <a:prstGeom prst="line">
            <a:avLst/>
          </a:prstGeom>
          <a:noFill/>
          <a:ln w="22225">
            <a:solidFill>
              <a:srgbClr val="9CA3AF"/>
            </a:solidFill>
            <a:prstDash val="solid"/>
            <a:tailEnd type="triangle"/>
          </a:ln>
        </p:spPr>
      </p:sp>
      <p:sp>
        <p:nvSpPr>
          <p:cNvPr id="13" name="Shape 11"/>
          <p:cNvSpPr/>
          <p:nvPr/>
        </p:nvSpPr>
        <p:spPr>
          <a:xfrm>
            <a:off x="6711696" y="1874520"/>
            <a:ext cx="2331720" cy="841248"/>
          </a:xfrm>
          <a:prstGeom prst="roundRect">
            <a:avLst>
              <a:gd name="adj" fmla="val 6522"/>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14" name="Text 12"/>
          <p:cNvSpPr/>
          <p:nvPr/>
        </p:nvSpPr>
        <p:spPr>
          <a:xfrm>
            <a:off x="6894576" y="1993392"/>
            <a:ext cx="2011680" cy="310896"/>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Recruitment</a:t>
            </a:r>
            <a:endParaRPr lang="en-US" sz="1400" dirty="0"/>
          </a:p>
        </p:txBody>
      </p:sp>
      <p:sp>
        <p:nvSpPr>
          <p:cNvPr id="15" name="Text 13"/>
          <p:cNvSpPr/>
          <p:nvPr/>
        </p:nvSpPr>
        <p:spPr>
          <a:xfrm>
            <a:off x="6894576" y="2304288"/>
            <a:ext cx="2011680" cy="274320"/>
          </a:xfrm>
          <a:prstGeom prst="rect">
            <a:avLst/>
          </a:prstGeom>
          <a:noFill/>
          <a:ln/>
        </p:spPr>
        <p:txBody>
          <a:bodyPr wrap="square" rtlCol="0" anchor="ctr"/>
          <a:lstStyle/>
          <a:p>
            <a:pPr marL="0" indent="0">
              <a:buNone/>
            </a:pPr>
            <a:r>
              <a:rPr lang="en-US" sz="1000" dirty="0">
                <a:solidFill>
                  <a:srgbClr val="9CA3AF"/>
                </a:solidFill>
                <a:latin typeface="Segoe UI" pitchFamily="34" charset="0"/>
                <a:ea typeface="Segoe UI" pitchFamily="34" charset="-122"/>
                <a:cs typeface="Segoe UI" pitchFamily="34" charset="-120"/>
              </a:rPr>
              <a:t>Hire casual workers</a:t>
            </a:r>
            <a:endParaRPr lang="en-US" sz="1000" dirty="0"/>
          </a:p>
        </p:txBody>
      </p:sp>
      <p:sp>
        <p:nvSpPr>
          <p:cNvPr id="16" name="Shape 14"/>
          <p:cNvSpPr/>
          <p:nvPr/>
        </p:nvSpPr>
        <p:spPr>
          <a:xfrm>
            <a:off x="4928616" y="2734056"/>
            <a:ext cx="0" cy="475488"/>
          </a:xfrm>
          <a:prstGeom prst="line">
            <a:avLst/>
          </a:prstGeom>
          <a:noFill/>
          <a:ln w="22225">
            <a:solidFill>
              <a:srgbClr val="9CA3AF"/>
            </a:solidFill>
            <a:prstDash val="solid"/>
            <a:tailEnd type="triangle"/>
          </a:ln>
        </p:spPr>
      </p:sp>
      <p:sp>
        <p:nvSpPr>
          <p:cNvPr id="17" name="Shape 15"/>
          <p:cNvSpPr/>
          <p:nvPr/>
        </p:nvSpPr>
        <p:spPr>
          <a:xfrm>
            <a:off x="7872984" y="2734056"/>
            <a:ext cx="0" cy="256032"/>
          </a:xfrm>
          <a:prstGeom prst="line">
            <a:avLst/>
          </a:prstGeom>
          <a:noFill/>
          <a:ln w="22225">
            <a:solidFill>
              <a:srgbClr val="9CA3AF"/>
            </a:solidFill>
            <a:prstDash val="solid"/>
            <a:tailEnd type="triangle"/>
          </a:ln>
        </p:spPr>
      </p:sp>
      <p:sp>
        <p:nvSpPr>
          <p:cNvPr id="18" name="Shape 16"/>
          <p:cNvSpPr/>
          <p:nvPr/>
        </p:nvSpPr>
        <p:spPr>
          <a:xfrm>
            <a:off x="4928616" y="2990088"/>
            <a:ext cx="2944368" cy="0"/>
          </a:xfrm>
          <a:prstGeom prst="line">
            <a:avLst/>
          </a:prstGeom>
          <a:noFill/>
          <a:ln w="22225">
            <a:solidFill>
              <a:srgbClr val="9CA3AF"/>
            </a:solidFill>
            <a:prstDash val="solid"/>
          </a:ln>
        </p:spPr>
      </p:sp>
      <p:sp>
        <p:nvSpPr>
          <p:cNvPr id="19" name="Shape 17"/>
          <p:cNvSpPr/>
          <p:nvPr/>
        </p:nvSpPr>
        <p:spPr>
          <a:xfrm>
            <a:off x="3767328" y="3227832"/>
            <a:ext cx="2331720" cy="841248"/>
          </a:xfrm>
          <a:prstGeom prst="roundRect">
            <a:avLst>
              <a:gd name="adj" fmla="val 6522"/>
            </a:avLst>
          </a:prstGeom>
          <a:solidFill>
            <a:srgbClr val="FFFFFF"/>
          </a:solidFill>
          <a:ln w="12700">
            <a:solidFill>
              <a:srgbClr val="FDBA74"/>
            </a:solidFill>
            <a:prstDash val="solid"/>
          </a:ln>
          <a:effectLst>
            <a:outerShdw blurRad="76200" dist="12700" dir="5400000" algn="bl" rotWithShape="0">
              <a:srgbClr val="000000">
                <a:alpha val="6000"/>
              </a:srgbClr>
            </a:outerShdw>
          </a:effectLst>
        </p:spPr>
      </p:sp>
      <p:sp>
        <p:nvSpPr>
          <p:cNvPr id="20" name="Shape 18"/>
          <p:cNvSpPr/>
          <p:nvPr/>
        </p:nvSpPr>
        <p:spPr>
          <a:xfrm>
            <a:off x="3767328" y="3227832"/>
            <a:ext cx="59436" cy="841248"/>
          </a:xfrm>
          <a:prstGeom prst="rect">
            <a:avLst/>
          </a:prstGeom>
          <a:solidFill>
            <a:srgbClr val="F97316"/>
          </a:solidFill>
          <a:ln/>
        </p:spPr>
      </p:sp>
      <p:sp>
        <p:nvSpPr>
          <p:cNvPr id="21" name="Text 19"/>
          <p:cNvSpPr/>
          <p:nvPr/>
        </p:nvSpPr>
        <p:spPr>
          <a:xfrm>
            <a:off x="3950208" y="3346704"/>
            <a:ext cx="2011680" cy="310896"/>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Shift</a:t>
            </a:r>
            <a:endParaRPr lang="en-US" sz="1400" dirty="0"/>
          </a:p>
        </p:txBody>
      </p:sp>
      <p:sp>
        <p:nvSpPr>
          <p:cNvPr id="22" name="Text 20"/>
          <p:cNvSpPr/>
          <p:nvPr/>
        </p:nvSpPr>
        <p:spPr>
          <a:xfrm>
            <a:off x="3950208" y="3657600"/>
            <a:ext cx="2011680" cy="274320"/>
          </a:xfrm>
          <a:prstGeom prst="rect">
            <a:avLst/>
          </a:prstGeom>
          <a:noFill/>
          <a:ln/>
        </p:spPr>
        <p:txBody>
          <a:bodyPr wrap="square" rtlCol="0" anchor="ctr"/>
          <a:lstStyle/>
          <a:p>
            <a:pPr marL="0" indent="0">
              <a:buNone/>
            </a:pPr>
            <a:r>
              <a:rPr lang="en-US" sz="1000" dirty="0">
                <a:solidFill>
                  <a:srgbClr val="9CA3AF"/>
                </a:solidFill>
                <a:latin typeface="Segoe UI" pitchFamily="34" charset="0"/>
                <a:ea typeface="Segoe UI" pitchFamily="34" charset="-122"/>
                <a:cs typeface="Segoe UI" pitchFamily="34" charset="-120"/>
              </a:rPr>
              <a:t>Schedule who works when</a:t>
            </a:r>
            <a:endParaRPr lang="en-US" sz="1000" dirty="0"/>
          </a:p>
        </p:txBody>
      </p:sp>
      <p:sp>
        <p:nvSpPr>
          <p:cNvPr id="23" name="Shape 21"/>
          <p:cNvSpPr/>
          <p:nvPr/>
        </p:nvSpPr>
        <p:spPr>
          <a:xfrm>
            <a:off x="4928616" y="4087368"/>
            <a:ext cx="0" cy="292608"/>
          </a:xfrm>
          <a:prstGeom prst="line">
            <a:avLst/>
          </a:prstGeom>
          <a:noFill/>
          <a:ln w="22225">
            <a:solidFill>
              <a:srgbClr val="9CA3AF"/>
            </a:solidFill>
            <a:prstDash val="solid"/>
          </a:ln>
        </p:spPr>
      </p:sp>
      <p:sp>
        <p:nvSpPr>
          <p:cNvPr id="24" name="Shape 22"/>
          <p:cNvSpPr/>
          <p:nvPr/>
        </p:nvSpPr>
        <p:spPr>
          <a:xfrm>
            <a:off x="2377440" y="4379976"/>
            <a:ext cx="5102352" cy="0"/>
          </a:xfrm>
          <a:prstGeom prst="line">
            <a:avLst/>
          </a:prstGeom>
          <a:noFill/>
          <a:ln w="22225">
            <a:solidFill>
              <a:srgbClr val="9CA3AF"/>
            </a:solidFill>
            <a:prstDash val="solid"/>
          </a:ln>
        </p:spPr>
      </p:sp>
      <p:sp>
        <p:nvSpPr>
          <p:cNvPr id="25" name="Shape 23"/>
          <p:cNvSpPr/>
          <p:nvPr/>
        </p:nvSpPr>
        <p:spPr>
          <a:xfrm>
            <a:off x="2377440" y="4379976"/>
            <a:ext cx="0" cy="292608"/>
          </a:xfrm>
          <a:prstGeom prst="line">
            <a:avLst/>
          </a:prstGeom>
          <a:noFill/>
          <a:ln w="22225">
            <a:solidFill>
              <a:srgbClr val="9CA3AF"/>
            </a:solidFill>
            <a:prstDash val="solid"/>
            <a:tailEnd type="triangle"/>
          </a:ln>
        </p:spPr>
      </p:sp>
      <p:sp>
        <p:nvSpPr>
          <p:cNvPr id="26" name="Shape 24"/>
          <p:cNvSpPr/>
          <p:nvPr/>
        </p:nvSpPr>
        <p:spPr>
          <a:xfrm>
            <a:off x="7479792" y="4379976"/>
            <a:ext cx="0" cy="292608"/>
          </a:xfrm>
          <a:prstGeom prst="line">
            <a:avLst/>
          </a:prstGeom>
          <a:noFill/>
          <a:ln w="22225">
            <a:solidFill>
              <a:srgbClr val="9CA3AF"/>
            </a:solidFill>
            <a:prstDash val="solid"/>
            <a:tailEnd type="triangle"/>
          </a:ln>
        </p:spPr>
      </p:sp>
      <p:sp>
        <p:nvSpPr>
          <p:cNvPr id="27" name="Shape 25"/>
          <p:cNvSpPr/>
          <p:nvPr/>
        </p:nvSpPr>
        <p:spPr>
          <a:xfrm>
            <a:off x="1207008" y="4672584"/>
            <a:ext cx="2331720" cy="841248"/>
          </a:xfrm>
          <a:prstGeom prst="roundRect">
            <a:avLst>
              <a:gd name="adj" fmla="val 6522"/>
            </a:avLst>
          </a:prstGeom>
          <a:solidFill>
            <a:srgbClr val="FFFFFF"/>
          </a:solidFill>
          <a:ln w="12700">
            <a:solidFill>
              <a:srgbClr val="FDBA74"/>
            </a:solidFill>
            <a:prstDash val="solid"/>
          </a:ln>
          <a:effectLst>
            <a:outerShdw blurRad="76200" dist="12700" dir="5400000" algn="bl" rotWithShape="0">
              <a:srgbClr val="000000">
                <a:alpha val="6000"/>
              </a:srgbClr>
            </a:outerShdw>
          </a:effectLst>
        </p:spPr>
      </p:sp>
      <p:sp>
        <p:nvSpPr>
          <p:cNvPr id="28" name="Shape 26"/>
          <p:cNvSpPr/>
          <p:nvPr/>
        </p:nvSpPr>
        <p:spPr>
          <a:xfrm>
            <a:off x="1207008" y="4672584"/>
            <a:ext cx="59436" cy="841248"/>
          </a:xfrm>
          <a:prstGeom prst="rect">
            <a:avLst/>
          </a:prstGeom>
          <a:solidFill>
            <a:srgbClr val="F97316"/>
          </a:solidFill>
          <a:ln/>
        </p:spPr>
      </p:sp>
      <p:sp>
        <p:nvSpPr>
          <p:cNvPr id="29" name="Text 27"/>
          <p:cNvSpPr/>
          <p:nvPr/>
        </p:nvSpPr>
        <p:spPr>
          <a:xfrm>
            <a:off x="1389888" y="4791456"/>
            <a:ext cx="2011680" cy="310896"/>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Task</a:t>
            </a:r>
            <a:endParaRPr lang="en-US" sz="1400" dirty="0"/>
          </a:p>
        </p:txBody>
      </p:sp>
      <p:sp>
        <p:nvSpPr>
          <p:cNvPr id="30" name="Text 28"/>
          <p:cNvSpPr/>
          <p:nvPr/>
        </p:nvSpPr>
        <p:spPr>
          <a:xfrm>
            <a:off x="1389888" y="5102352"/>
            <a:ext cx="2011680" cy="274320"/>
          </a:xfrm>
          <a:prstGeom prst="rect">
            <a:avLst/>
          </a:prstGeom>
          <a:noFill/>
          <a:ln/>
        </p:spPr>
        <p:txBody>
          <a:bodyPr wrap="square" rtlCol="0" anchor="ctr"/>
          <a:lstStyle/>
          <a:p>
            <a:pPr marL="0" indent="0">
              <a:buNone/>
            </a:pPr>
            <a:r>
              <a:rPr lang="en-US" sz="1000" dirty="0">
                <a:solidFill>
                  <a:srgbClr val="9CA3AF"/>
                </a:solidFill>
                <a:latin typeface="Segoe UI" pitchFamily="34" charset="0"/>
                <a:ea typeface="Segoe UI" pitchFamily="34" charset="-122"/>
                <a:cs typeface="Segoe UI" pitchFamily="34" charset="-120"/>
              </a:rPr>
              <a:t>Assign · track · rework</a:t>
            </a:r>
            <a:endParaRPr lang="en-US" sz="1000" dirty="0"/>
          </a:p>
        </p:txBody>
      </p:sp>
      <p:sp>
        <p:nvSpPr>
          <p:cNvPr id="31" name="Shape 29"/>
          <p:cNvSpPr/>
          <p:nvPr/>
        </p:nvSpPr>
        <p:spPr>
          <a:xfrm>
            <a:off x="6309360" y="4672584"/>
            <a:ext cx="2331720" cy="841248"/>
          </a:xfrm>
          <a:prstGeom prst="roundRect">
            <a:avLst>
              <a:gd name="adj" fmla="val 6522"/>
            </a:avLst>
          </a:prstGeom>
          <a:solidFill>
            <a:srgbClr val="FFFFFF"/>
          </a:solidFill>
          <a:ln w="12700">
            <a:solidFill>
              <a:srgbClr val="FDBA74"/>
            </a:solidFill>
            <a:prstDash val="solid"/>
          </a:ln>
          <a:effectLst>
            <a:outerShdw blurRad="76200" dist="12700" dir="5400000" algn="bl" rotWithShape="0">
              <a:srgbClr val="000000">
                <a:alpha val="6000"/>
              </a:srgbClr>
            </a:outerShdw>
          </a:effectLst>
        </p:spPr>
      </p:sp>
      <p:sp>
        <p:nvSpPr>
          <p:cNvPr id="32" name="Shape 30"/>
          <p:cNvSpPr/>
          <p:nvPr/>
        </p:nvSpPr>
        <p:spPr>
          <a:xfrm>
            <a:off x="6309360" y="4672584"/>
            <a:ext cx="59436" cy="841248"/>
          </a:xfrm>
          <a:prstGeom prst="rect">
            <a:avLst/>
          </a:prstGeom>
          <a:solidFill>
            <a:srgbClr val="F97316"/>
          </a:solidFill>
          <a:ln/>
        </p:spPr>
      </p:sp>
      <p:sp>
        <p:nvSpPr>
          <p:cNvPr id="33" name="Text 31"/>
          <p:cNvSpPr/>
          <p:nvPr/>
        </p:nvSpPr>
        <p:spPr>
          <a:xfrm>
            <a:off x="6492240" y="4791456"/>
            <a:ext cx="2011680" cy="310896"/>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Attendance</a:t>
            </a:r>
            <a:endParaRPr lang="en-US" sz="1400" dirty="0"/>
          </a:p>
        </p:txBody>
      </p:sp>
      <p:sp>
        <p:nvSpPr>
          <p:cNvPr id="34" name="Text 32"/>
          <p:cNvSpPr/>
          <p:nvPr/>
        </p:nvSpPr>
        <p:spPr>
          <a:xfrm>
            <a:off x="6492240" y="5102352"/>
            <a:ext cx="2011680" cy="274320"/>
          </a:xfrm>
          <a:prstGeom prst="rect">
            <a:avLst/>
          </a:prstGeom>
          <a:noFill/>
          <a:ln/>
        </p:spPr>
        <p:txBody>
          <a:bodyPr wrap="square" rtlCol="0" anchor="ctr"/>
          <a:lstStyle/>
          <a:p>
            <a:pPr marL="0" indent="0">
              <a:buNone/>
            </a:pPr>
            <a:r>
              <a:rPr lang="en-US" sz="1000" dirty="0">
                <a:solidFill>
                  <a:srgbClr val="9CA3AF"/>
                </a:solidFill>
                <a:latin typeface="Segoe UI" pitchFamily="34" charset="0"/>
                <a:ea typeface="Segoe UI" pitchFamily="34" charset="-122"/>
                <a:cs typeface="Segoe UI" pitchFamily="34" charset="-120"/>
              </a:rPr>
              <a:t>Clock in · swap · off day</a:t>
            </a:r>
            <a:endParaRPr lang="en-US" sz="1000" dirty="0"/>
          </a:p>
        </p:txBody>
      </p:sp>
      <p:sp>
        <p:nvSpPr>
          <p:cNvPr id="35" name="Shape 33"/>
          <p:cNvSpPr/>
          <p:nvPr/>
        </p:nvSpPr>
        <p:spPr>
          <a:xfrm>
            <a:off x="2377440" y="5513832"/>
            <a:ext cx="0" cy="274320"/>
          </a:xfrm>
          <a:prstGeom prst="line">
            <a:avLst/>
          </a:prstGeom>
          <a:noFill/>
          <a:ln w="22225">
            <a:solidFill>
              <a:srgbClr val="9CA3AF"/>
            </a:solidFill>
            <a:prstDash val="solid"/>
          </a:ln>
        </p:spPr>
      </p:sp>
      <p:sp>
        <p:nvSpPr>
          <p:cNvPr id="36" name="Shape 34"/>
          <p:cNvSpPr/>
          <p:nvPr/>
        </p:nvSpPr>
        <p:spPr>
          <a:xfrm>
            <a:off x="7479792" y="5513832"/>
            <a:ext cx="0" cy="274320"/>
          </a:xfrm>
          <a:prstGeom prst="line">
            <a:avLst/>
          </a:prstGeom>
          <a:noFill/>
          <a:ln w="22225">
            <a:solidFill>
              <a:srgbClr val="9CA3AF"/>
            </a:solidFill>
            <a:prstDash val="solid"/>
          </a:ln>
        </p:spPr>
      </p:sp>
      <p:sp>
        <p:nvSpPr>
          <p:cNvPr id="37" name="Shape 35"/>
          <p:cNvSpPr/>
          <p:nvPr/>
        </p:nvSpPr>
        <p:spPr>
          <a:xfrm>
            <a:off x="2377440" y="5788152"/>
            <a:ext cx="5102352" cy="0"/>
          </a:xfrm>
          <a:prstGeom prst="line">
            <a:avLst/>
          </a:prstGeom>
          <a:noFill/>
          <a:ln w="22225">
            <a:solidFill>
              <a:srgbClr val="9CA3AF"/>
            </a:solidFill>
            <a:prstDash val="solid"/>
          </a:ln>
        </p:spPr>
      </p:sp>
      <p:sp>
        <p:nvSpPr>
          <p:cNvPr id="38" name="Shape 36"/>
          <p:cNvSpPr/>
          <p:nvPr/>
        </p:nvSpPr>
        <p:spPr>
          <a:xfrm>
            <a:off x="4928616" y="5788152"/>
            <a:ext cx="0" cy="256032"/>
          </a:xfrm>
          <a:prstGeom prst="line">
            <a:avLst/>
          </a:prstGeom>
          <a:noFill/>
          <a:ln w="22225">
            <a:solidFill>
              <a:srgbClr val="9CA3AF"/>
            </a:solidFill>
            <a:prstDash val="solid"/>
            <a:tailEnd type="triangle"/>
          </a:ln>
        </p:spPr>
      </p:sp>
      <p:sp>
        <p:nvSpPr>
          <p:cNvPr id="39" name="Shape 37"/>
          <p:cNvSpPr/>
          <p:nvPr/>
        </p:nvSpPr>
        <p:spPr>
          <a:xfrm>
            <a:off x="3767328" y="6044184"/>
            <a:ext cx="2331720" cy="734722"/>
          </a:xfrm>
          <a:prstGeom prst="roundRect">
            <a:avLst>
              <a:gd name="adj" fmla="val 8333"/>
            </a:avLst>
          </a:prstGeom>
          <a:solidFill>
            <a:srgbClr val="FFFFFF"/>
          </a:solidFill>
          <a:ln w="12700">
            <a:solidFill>
              <a:srgbClr val="E5E7EB"/>
            </a:solidFill>
            <a:prstDash val="solid"/>
          </a:ln>
          <a:effectLst>
            <a:outerShdw blurRad="76200" dist="12700" dir="5400000" algn="bl" rotWithShape="0">
              <a:srgbClr val="000000">
                <a:alpha val="6000"/>
              </a:srgbClr>
            </a:outerShdw>
          </a:effectLst>
        </p:spPr>
      </p:sp>
      <p:sp>
        <p:nvSpPr>
          <p:cNvPr id="40" name="Text 38"/>
          <p:cNvSpPr/>
          <p:nvPr/>
        </p:nvSpPr>
        <p:spPr>
          <a:xfrm>
            <a:off x="3950208" y="6163056"/>
            <a:ext cx="2011680" cy="310896"/>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Report</a:t>
            </a:r>
            <a:endParaRPr lang="en-US" sz="1400" dirty="0"/>
          </a:p>
        </p:txBody>
      </p:sp>
      <p:sp>
        <p:nvSpPr>
          <p:cNvPr id="41" name="Text 39"/>
          <p:cNvSpPr/>
          <p:nvPr/>
        </p:nvSpPr>
        <p:spPr>
          <a:xfrm>
            <a:off x="3950208" y="6473952"/>
            <a:ext cx="2011680" cy="274320"/>
          </a:xfrm>
          <a:prstGeom prst="rect">
            <a:avLst/>
          </a:prstGeom>
          <a:noFill/>
          <a:ln/>
        </p:spPr>
        <p:txBody>
          <a:bodyPr wrap="square" rtlCol="0" anchor="ctr"/>
          <a:lstStyle/>
          <a:p>
            <a:pPr marL="0" indent="0">
              <a:buNone/>
            </a:pPr>
            <a:r>
              <a:rPr lang="en-US" sz="1000" dirty="0">
                <a:solidFill>
                  <a:srgbClr val="9CA3AF"/>
                </a:solidFill>
                <a:latin typeface="Segoe UI" pitchFamily="34" charset="0"/>
                <a:ea typeface="Segoe UI" pitchFamily="34" charset="-122"/>
                <a:cs typeface="Segoe UI" pitchFamily="34" charset="-120"/>
              </a:rPr>
              <a:t>Historical analytics</a:t>
            </a:r>
            <a:endParaRPr lang="en-US" sz="1000" dirty="0"/>
          </a:p>
        </p:txBody>
      </p:sp>
      <p:sp>
        <p:nvSpPr>
          <p:cNvPr id="42" name="Shape 40"/>
          <p:cNvSpPr/>
          <p:nvPr/>
        </p:nvSpPr>
        <p:spPr>
          <a:xfrm>
            <a:off x="9464040" y="3227832"/>
            <a:ext cx="2011680" cy="2286000"/>
          </a:xfrm>
          <a:prstGeom prst="roundRect">
            <a:avLst>
              <a:gd name="adj" fmla="val 2727"/>
            </a:avLst>
          </a:prstGeom>
          <a:solidFill>
            <a:srgbClr val="F9FAFB"/>
          </a:solidFill>
          <a:ln w="12700">
            <a:solidFill>
              <a:srgbClr val="E5E7EB"/>
            </a:solidFill>
            <a:prstDash val="solid"/>
          </a:ln>
          <a:effectLst>
            <a:outerShdw blurRad="76200" dist="12700" dir="5400000" algn="bl" rotWithShape="0">
              <a:srgbClr val="000000">
                <a:alpha val="6000"/>
              </a:srgbClr>
            </a:outerShdw>
          </a:effectLst>
        </p:spPr>
      </p:sp>
      <p:sp>
        <p:nvSpPr>
          <p:cNvPr id="43" name="Shape 41"/>
          <p:cNvSpPr/>
          <p:nvPr/>
        </p:nvSpPr>
        <p:spPr>
          <a:xfrm>
            <a:off x="9464040" y="3227832"/>
            <a:ext cx="2011680" cy="64008"/>
          </a:xfrm>
          <a:prstGeom prst="rect">
            <a:avLst/>
          </a:prstGeom>
          <a:solidFill>
            <a:srgbClr val="9CA3AF"/>
          </a:solidFill>
          <a:ln/>
        </p:spPr>
      </p:sp>
      <p:sp>
        <p:nvSpPr>
          <p:cNvPr id="44" name="Text 42"/>
          <p:cNvSpPr/>
          <p:nvPr/>
        </p:nvSpPr>
        <p:spPr>
          <a:xfrm>
            <a:off x="9628632" y="3429000"/>
            <a:ext cx="1737360" cy="548640"/>
          </a:xfrm>
          <a:prstGeom prst="rect">
            <a:avLst/>
          </a:prstGeom>
          <a:noFill/>
          <a:ln/>
        </p:spPr>
        <p:txBody>
          <a:bodyPr wrap="square" rtlCol="0" anchor="ctr"/>
          <a:lstStyle/>
          <a:p>
            <a:pPr marL="0" indent="0">
              <a:buNone/>
            </a:pPr>
            <a:r>
              <a:rPr lang="en-US" sz="1400" b="1" dirty="0">
                <a:solidFill>
                  <a:srgbClr val="18181B"/>
                </a:solidFill>
                <a:latin typeface="Segoe UI" pitchFamily="34" charset="0"/>
                <a:ea typeface="Segoe UI" pitchFamily="34" charset="-122"/>
                <a:cs typeface="Segoe UI" pitchFamily="34" charset="-120"/>
              </a:rPr>
              <a:t>Communication</a:t>
            </a:r>
            <a:endParaRPr lang="en-US" sz="1400" dirty="0"/>
          </a:p>
        </p:txBody>
      </p:sp>
      <p:sp>
        <p:nvSpPr>
          <p:cNvPr id="45" name="Text 43"/>
          <p:cNvSpPr/>
          <p:nvPr/>
        </p:nvSpPr>
        <p:spPr>
          <a:xfrm>
            <a:off x="9628632" y="3931920"/>
            <a:ext cx="1737360" cy="548640"/>
          </a:xfrm>
          <a:prstGeom prst="rect">
            <a:avLst/>
          </a:prstGeom>
          <a:noFill/>
          <a:ln/>
        </p:spPr>
        <p:txBody>
          <a:bodyPr wrap="square" rtlCol="0" anchor="ctr"/>
          <a:lstStyle/>
          <a:p>
            <a:pPr marL="0" indent="0">
              <a:lnSpc>
                <a:spcPct val="120000"/>
              </a:lnSpc>
              <a:buNone/>
            </a:pPr>
            <a:r>
              <a:rPr lang="en-US" sz="1000" dirty="0">
                <a:solidFill>
                  <a:srgbClr val="9CA3AF"/>
                </a:solidFill>
                <a:latin typeface="Segoe UI" pitchFamily="34" charset="0"/>
                <a:ea typeface="Segoe UI" pitchFamily="34" charset="-122"/>
                <a:cs typeface="Segoe UI" pitchFamily="34" charset="-120"/>
              </a:rPr>
              <a:t>Announcements</a:t>
            </a:r>
            <a:endParaRPr lang="en-US" sz="1000" dirty="0"/>
          </a:p>
          <a:p>
            <a:pPr marL="0" indent="0">
              <a:lnSpc>
                <a:spcPct val="120000"/>
              </a:lnSpc>
              <a:buNone/>
            </a:pPr>
            <a:r>
              <a:rPr lang="en-US" sz="1000" dirty="0">
                <a:solidFill>
                  <a:srgbClr val="9CA3AF"/>
                </a:solidFill>
                <a:latin typeface="Segoe UI" pitchFamily="34" charset="0"/>
                <a:ea typeface="Segoe UI" pitchFamily="34" charset="-122"/>
                <a:cs typeface="Segoe UI" pitchFamily="34" charset="-120"/>
              </a:rPr>
              <a:t>and messages</a:t>
            </a:r>
            <a:endParaRPr lang="en-US" sz="1000" dirty="0"/>
          </a:p>
        </p:txBody>
      </p:sp>
      <p:sp>
        <p:nvSpPr>
          <p:cNvPr id="46" name="Text 44"/>
          <p:cNvSpPr/>
          <p:nvPr/>
        </p:nvSpPr>
        <p:spPr>
          <a:xfrm>
            <a:off x="9628632" y="4526280"/>
            <a:ext cx="1737360" cy="868680"/>
          </a:xfrm>
          <a:prstGeom prst="rect">
            <a:avLst/>
          </a:prstGeom>
          <a:noFill/>
          <a:ln/>
        </p:spPr>
        <p:txBody>
          <a:bodyPr wrap="square" rtlCol="0" anchor="ctr"/>
          <a:lstStyle/>
          <a:p>
            <a:pPr marL="0" indent="0">
              <a:lnSpc>
                <a:spcPct val="125000"/>
              </a:lnSpc>
              <a:buNone/>
            </a:pPr>
            <a:r>
              <a:rPr lang="en-US" sz="1000" i="1" dirty="0">
                <a:solidFill>
                  <a:srgbClr val="6B7280"/>
                </a:solidFill>
                <a:latin typeface="Segoe UI" pitchFamily="34" charset="0"/>
                <a:ea typeface="Segoe UI" pitchFamily="34" charset="-122"/>
                <a:cs typeface="Segoe UI" pitchFamily="34" charset="-120"/>
              </a:rPr>
              <a:t>Independent of the</a:t>
            </a:r>
            <a:endParaRPr lang="en-US" sz="1000" dirty="0"/>
          </a:p>
          <a:p>
            <a:pPr marL="0" indent="0">
              <a:lnSpc>
                <a:spcPct val="125000"/>
              </a:lnSpc>
              <a:buNone/>
            </a:pPr>
            <a:r>
              <a:rPr lang="en-US" sz="1000" i="1" dirty="0">
                <a:solidFill>
                  <a:srgbClr val="6B7280"/>
                </a:solidFill>
                <a:latin typeface="Segoe UI" pitchFamily="34" charset="0"/>
                <a:ea typeface="Segoe UI" pitchFamily="34" charset="-122"/>
                <a:cs typeface="Segoe UI" pitchFamily="34" charset="-120"/>
              </a:rPr>
              <a:t>chain above. Runs</a:t>
            </a:r>
            <a:endParaRPr lang="en-US" sz="1000" dirty="0"/>
          </a:p>
          <a:p>
            <a:pPr marL="0" indent="0">
              <a:lnSpc>
                <a:spcPct val="125000"/>
              </a:lnSpc>
              <a:buNone/>
            </a:pPr>
            <a:r>
              <a:rPr lang="en-US" sz="1000" i="1" dirty="0">
                <a:solidFill>
                  <a:srgbClr val="6B7280"/>
                </a:solidFill>
                <a:latin typeface="Segoe UI" pitchFamily="34" charset="0"/>
                <a:ea typeface="Segoe UI" pitchFamily="34" charset="-122"/>
                <a:cs typeface="Segoe UI" pitchFamily="34" charset="-120"/>
              </a:rPr>
              <a:t>across every module</a:t>
            </a:r>
            <a:endParaRPr lang="en-US" sz="1000" dirty="0"/>
          </a:p>
          <a:p>
            <a:pPr marL="0" indent="0">
              <a:lnSpc>
                <a:spcPct val="125000"/>
              </a:lnSpc>
              <a:buNone/>
            </a:pPr>
            <a:r>
              <a:rPr lang="en-US" sz="1000" i="1" dirty="0">
                <a:solidFill>
                  <a:srgbClr val="6B7280"/>
                </a:solidFill>
                <a:latin typeface="Segoe UI" pitchFamily="34" charset="0"/>
                <a:ea typeface="Segoe UI" pitchFamily="34" charset="-122"/>
                <a:cs typeface="Segoe UI" pitchFamily="34" charset="-120"/>
              </a:rPr>
              <a:t>and every role.</a:t>
            </a:r>
            <a:endParaRPr lang="en-US" sz="1000" dirty="0"/>
          </a:p>
        </p:txBody>
      </p:sp>
      <p:sp>
        <p:nvSpPr>
          <p:cNvPr id="47" name="Text 45"/>
          <p:cNvSpPr/>
          <p:nvPr/>
        </p:nvSpPr>
        <p:spPr>
          <a:xfrm>
            <a:off x="822960" y="1572768"/>
            <a:ext cx="10607040" cy="256032"/>
          </a:xfrm>
          <a:prstGeom prst="rect">
            <a:avLst/>
          </a:prstGeom>
          <a:noFill/>
          <a:ln/>
        </p:spPr>
        <p:txBody>
          <a:bodyPr wrap="square" rtlCol="0" anchor="ctr"/>
          <a:lstStyle/>
          <a:p>
            <a:pPr marL="0" indent="0">
              <a:buNone/>
            </a:pPr>
            <a:r>
              <a:rPr lang="en-US" sz="1200" dirty="0">
                <a:solidFill>
                  <a:srgbClr val="6B7280"/>
                </a:solidFill>
                <a:latin typeface="Segoe UI" pitchFamily="34" charset="0"/>
                <a:ea typeface="Segoe UI" pitchFamily="34" charset="-122"/>
                <a:cs typeface="Segoe UI" pitchFamily="34" charset="-120"/>
              </a:rPr>
              <a:t>Arrows show dependency: a module needs the data produced by the one before it.</a:t>
            </a:r>
            <a:endParaRPr lang="en-US" sz="12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566928"/>
            <a:ext cx="384048" cy="68580"/>
          </a:xfrm>
          <a:prstGeom prst="rect">
            <a:avLst/>
          </a:prstGeom>
          <a:solidFill>
            <a:srgbClr val="F97316"/>
          </a:solidFill>
          <a:ln/>
        </p:spPr>
      </p:sp>
      <p:sp>
        <p:nvSpPr>
          <p:cNvPr id="3" name="Text 1"/>
          <p:cNvSpPr/>
          <p:nvPr/>
        </p:nvSpPr>
        <p:spPr>
          <a:xfrm>
            <a:off x="685800" y="731520"/>
            <a:ext cx="10789920" cy="274320"/>
          </a:xfrm>
          <a:prstGeom prst="rect">
            <a:avLst/>
          </a:prstGeom>
          <a:noFill/>
          <a:ln/>
        </p:spPr>
        <p:txBody>
          <a:bodyPr wrap="square" rtlCol="0" anchor="ctr"/>
          <a:lstStyle/>
          <a:p>
            <a:pPr marL="0" indent="0">
              <a:buNone/>
            </a:pPr>
            <a:r>
              <a:rPr lang="en-US" sz="1100" b="1" kern="0" spc="160" dirty="0">
                <a:solidFill>
                  <a:srgbClr val="9CA3AF"/>
                </a:solidFill>
                <a:latin typeface="Segoe UI" pitchFamily="34" charset="0"/>
                <a:ea typeface="Segoe UI" pitchFamily="34" charset="-122"/>
                <a:cs typeface="Segoe UI" pitchFamily="34" charset="-120"/>
              </a:rPr>
              <a:t>WHAT COMES NEXT</a:t>
            </a:r>
            <a:endParaRPr lang="en-US" sz="1100" dirty="0"/>
          </a:p>
        </p:txBody>
      </p:sp>
      <p:sp>
        <p:nvSpPr>
          <p:cNvPr id="4" name="Text 2"/>
          <p:cNvSpPr/>
          <p:nvPr/>
        </p:nvSpPr>
        <p:spPr>
          <a:xfrm>
            <a:off x="685800" y="1005840"/>
            <a:ext cx="10789920" cy="548640"/>
          </a:xfrm>
          <a:prstGeom prst="rect">
            <a:avLst/>
          </a:prstGeom>
          <a:noFill/>
          <a:ln/>
        </p:spPr>
        <p:txBody>
          <a:bodyPr wrap="square" rtlCol="0" anchor="ctr"/>
          <a:lstStyle/>
          <a:p>
            <a:pPr marL="0" indent="0">
              <a:buNone/>
            </a:pPr>
            <a:r>
              <a:rPr lang="en-US" sz="3000" b="1" dirty="0">
                <a:solidFill>
                  <a:srgbClr val="18181B"/>
                </a:solidFill>
                <a:latin typeface="Segoe UI" pitchFamily="34" charset="0"/>
                <a:ea typeface="Segoe UI" pitchFamily="34" charset="-122"/>
                <a:cs typeface="Segoe UI" pitchFamily="34" charset="-120"/>
              </a:rPr>
              <a:t>Structure of This Video</a:t>
            </a:r>
            <a:endParaRPr lang="en-US" sz="3000" dirty="0"/>
          </a:p>
        </p:txBody>
      </p:sp>
      <p:sp>
        <p:nvSpPr>
          <p:cNvPr id="5" name="Text 3"/>
          <p:cNvSpPr/>
          <p:nvPr/>
        </p:nvSpPr>
        <p:spPr>
          <a:xfrm>
            <a:off x="713232" y="1719072"/>
            <a:ext cx="7498080" cy="274320"/>
          </a:xfrm>
          <a:prstGeom prst="rect">
            <a:avLst/>
          </a:prstGeom>
          <a:noFill/>
          <a:ln/>
        </p:spPr>
        <p:txBody>
          <a:bodyPr wrap="square" rtlCol="0" anchor="ctr"/>
          <a:lstStyle/>
          <a:p>
            <a:pPr marL="0" indent="0">
              <a:buNone/>
            </a:pPr>
            <a:r>
              <a:rPr lang="en-US" sz="1200" b="1" kern="0" spc="120" dirty="0">
                <a:solidFill>
                  <a:srgbClr val="F97316"/>
                </a:solidFill>
                <a:latin typeface="Segoe UI" pitchFamily="34" charset="0"/>
                <a:ea typeface="Segoe UI" pitchFamily="34" charset="-122"/>
                <a:cs typeface="Segoe UI" pitchFamily="34" charset="-120"/>
              </a:rPr>
              <a:t>PART 1  </a:t>
            </a:r>
            <a:r>
              <a:rPr lang="en-US" sz="1200" b="1" kern="0" spc="120" dirty="0">
                <a:solidFill>
                  <a:srgbClr val="9CA3AF"/>
                </a:solidFill>
                <a:latin typeface="Segoe UI" pitchFamily="34" charset="0"/>
                <a:ea typeface="Segoe UI" pitchFamily="34" charset="-122"/>
                <a:cs typeface="Segoe UI" pitchFamily="34" charset="-120"/>
              </a:rPr>
              <a:t>Feature walkthrough, module by module</a:t>
            </a:r>
            <a:endParaRPr lang="en-US" sz="1200" dirty="0"/>
          </a:p>
        </p:txBody>
      </p:sp>
      <p:sp>
        <p:nvSpPr>
          <p:cNvPr id="6" name="Text 4"/>
          <p:cNvSpPr/>
          <p:nvPr/>
        </p:nvSpPr>
        <p:spPr>
          <a:xfrm>
            <a:off x="713232" y="1975104"/>
            <a:ext cx="7498080" cy="489204"/>
          </a:xfrm>
          <a:prstGeom prst="rect">
            <a:avLst/>
          </a:prstGeom>
          <a:noFill/>
          <a:ln/>
        </p:spPr>
        <p:txBody>
          <a:bodyPr wrap="square" rtlCol="0" anchor="ctr"/>
          <a:lstStyle/>
          <a:p>
            <a:pPr marL="0" indent="0">
              <a:buNone/>
            </a:pPr>
            <a:r>
              <a:rPr lang="en-US" sz="1200" dirty="0">
                <a:solidFill>
                  <a:srgbClr val="6B7280"/>
                </a:solidFill>
                <a:latin typeface="Segoe UI" pitchFamily="34" charset="0"/>
                <a:ea typeface="Segoe UI" pitchFamily="34" charset="-122"/>
                <a:cs typeface="Segoe UI" pitchFamily="34" charset="-120"/>
              </a:rPr>
              <a:t>A single role's perspective per module.</a:t>
            </a:r>
          </a:p>
          <a:p>
            <a:pPr marL="0" indent="0">
              <a:buNone/>
            </a:pPr>
            <a:r>
              <a:rPr lang="en-US" sz="1200" dirty="0">
                <a:solidFill>
                  <a:srgbClr val="6B7280"/>
                </a:solidFill>
                <a:latin typeface="Segoe UI" pitchFamily="34" charset="0"/>
                <a:ea typeface="Segoe UI" pitchFamily="34" charset="-122"/>
                <a:cs typeface="Segoe UI" pitchFamily="34" charset="-120"/>
              </a:rPr>
              <a:t>Goal: learn how each feature works.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3659479437"/>
              </p:ext>
            </p:extLst>
          </p:nvPr>
        </p:nvGraphicFramePr>
        <p:xfrm>
          <a:off x="685800" y="2528316"/>
          <a:ext cx="7498080" cy="3456432"/>
        </p:xfrm>
        <a:graphic>
          <a:graphicData uri="http://schemas.openxmlformats.org/drawingml/2006/table">
            <a:tbl>
              <a:tblPr/>
              <a:tblGrid>
                <a:gridCol w="365760">
                  <a:extLst>
                    <a:ext uri="{9D8B030D-6E8A-4147-A177-3AD203B41FA5}">
                      <a16:colId xmlns:a16="http://schemas.microsoft.com/office/drawing/2014/main" val="20000"/>
                    </a:ext>
                  </a:extLst>
                </a:gridCol>
                <a:gridCol w="1481328">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3026664">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384048">
                <a:tc>
                  <a:txBody>
                    <a:bodyPr/>
                    <a:lstStyle/>
                    <a:p>
                      <a:pPr marL="0" indent="0" algn="ctr">
                        <a:buNone/>
                      </a:pPr>
                      <a:r>
                        <a:rPr lang="en-US" sz="1000" b="1" dirty="0">
                          <a:solidFill>
                            <a:srgbClr val="9CA3AF"/>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marL="0" indent="0" algn="l">
                        <a:buNone/>
                      </a:pPr>
                      <a:r>
                        <a:rPr lang="en-US" sz="1000" b="1" dirty="0">
                          <a:solidFill>
                            <a:srgbClr val="9CA3AF"/>
                          </a:solidFill>
                          <a:latin typeface="Segoe UI" pitchFamily="34" charset="0"/>
                          <a:ea typeface="Segoe UI" pitchFamily="34" charset="-122"/>
                          <a:cs typeface="Segoe UI" pitchFamily="34" charset="-120"/>
                        </a:rPr>
                        <a:t>Module</a:t>
                      </a:r>
                      <a:endParaRPr lang="en-US" sz="100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marL="0" indent="0" algn="l">
                        <a:buNone/>
                      </a:pPr>
                      <a:r>
                        <a:rPr lang="en-US" sz="1000" b="1" dirty="0">
                          <a:solidFill>
                            <a:srgbClr val="9CA3AF"/>
                          </a:solidFill>
                          <a:latin typeface="Segoe UI" pitchFamily="34" charset="0"/>
                          <a:ea typeface="Segoe UI" pitchFamily="34" charset="-122"/>
                          <a:cs typeface="Segoe UI" pitchFamily="34" charset="-120"/>
                        </a:rPr>
                        <a:t>Role</a:t>
                      </a:r>
                      <a:endParaRPr lang="en-US" sz="100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marL="0" indent="0" algn="l">
                        <a:buNone/>
                      </a:pPr>
                      <a:r>
                        <a:rPr lang="en-US" sz="1000" b="1" dirty="0">
                          <a:solidFill>
                            <a:srgbClr val="9CA3AF"/>
                          </a:solidFill>
                          <a:latin typeface="Segoe UI" pitchFamily="34" charset="0"/>
                          <a:ea typeface="Segoe UI" pitchFamily="34" charset="-122"/>
                          <a:cs typeface="Segoe UI" pitchFamily="34" charset="-120"/>
                        </a:rPr>
                        <a:t>Length</a:t>
                      </a:r>
                      <a:endParaRPr lang="en-US" sz="100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marL="0" indent="0" algn="l">
                        <a:buNone/>
                      </a:pPr>
                      <a:r>
                        <a:rPr lang="en-US" sz="1000" b="1" dirty="0">
                          <a:solidFill>
                            <a:srgbClr val="9CA3AF"/>
                          </a:solidFill>
                          <a:latin typeface="Segoe UI" pitchFamily="34" charset="0"/>
                          <a:ea typeface="Segoe UI" pitchFamily="34" charset="-122"/>
                          <a:cs typeface="Segoe UI" pitchFamily="34" charset="-120"/>
                        </a:rPr>
                        <a:t>Focus</a:t>
                      </a:r>
                      <a:endParaRPr lang="en-US" sz="100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tc>
                  <a:txBody>
                    <a:bodyPr/>
                    <a:lstStyle/>
                    <a:p>
                      <a:pPr marL="0" indent="0" algn="l">
                        <a:buNone/>
                      </a:pPr>
                      <a:r>
                        <a:rPr lang="en-US" sz="1000" b="1" dirty="0">
                          <a:solidFill>
                            <a:srgbClr val="9CA3AF"/>
                          </a:solidFill>
                          <a:latin typeface="Segoe UI" pitchFamily="34" charset="0"/>
                          <a:ea typeface="Segoe UI" pitchFamily="34" charset="-122"/>
                          <a:cs typeface="Segoe UI" pitchFamily="34" charset="-120"/>
                        </a:rPr>
                        <a:t>Timestamp</a:t>
                      </a:r>
                      <a:endParaRPr lang="en-US" sz="100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AFB"/>
                    </a:solidFill>
                  </a:tcPr>
                </a:tc>
                <a:extLst>
                  <a:ext uri="{0D108BD9-81ED-4DB2-BD59-A6C34878D82A}">
                    <a16:rowId xmlns:a16="http://schemas.microsoft.com/office/drawing/2014/main" val="10000"/>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solidFill>
                            <a:srgbClr val="18181B"/>
                          </a:solidFill>
                          <a:latin typeface="Segoe UI" pitchFamily="34" charset="0"/>
                          <a:ea typeface="Segoe UI" pitchFamily="34" charset="-122"/>
                          <a:cs typeface="Segoe UI" pitchFamily="34" charset="-120"/>
                        </a:rPr>
                        <a:t>Account &amp; Auth</a:t>
                      </a:r>
                      <a:endParaRPr lang="en-US" sz="1050" dirty="0"/>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All four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Sign in as each role, compare sidebars</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1</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b="1" dirty="0">
                          <a:solidFill>
                            <a:srgbClr val="18181B"/>
                          </a:solidFill>
                          <a:latin typeface="Segoe UI" pitchFamily="34" charset="0"/>
                          <a:ea typeface="Segoe UI" pitchFamily="34" charset="-122"/>
                          <a:cs typeface="Segoe UI" pitchFamily="34" charset="-120"/>
                        </a:rPr>
                        <a:t>Team / Company</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Owner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Departments, invite members, company profile</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2</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b="1" dirty="0">
                          <a:solidFill>
                            <a:srgbClr val="18181B"/>
                          </a:solidFill>
                          <a:latin typeface="Segoe UI" pitchFamily="34" charset="0"/>
                          <a:ea typeface="Segoe UI" pitchFamily="34" charset="-122"/>
                          <a:cs typeface="Segoe UI" pitchFamily="34" charset="-120"/>
                        </a:rPr>
                        <a:t>Recruitment</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Owner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Job templates, posting states, applicant list</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3</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b="1" dirty="0">
                          <a:solidFill>
                            <a:srgbClr val="18181B"/>
                          </a:solidFill>
                          <a:latin typeface="Segoe UI" pitchFamily="34" charset="0"/>
                          <a:ea typeface="Segoe UI" pitchFamily="34" charset="-122"/>
                          <a:cs typeface="Segoe UI" pitchFamily="34" charset="-120"/>
                        </a:rPr>
                        <a:t>Shift</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Owner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Manual create, templates, drag to adjust, publish</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4</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b="1" dirty="0">
                          <a:solidFill>
                            <a:srgbClr val="18181B"/>
                          </a:solidFill>
                          <a:latin typeface="Segoe UI" pitchFamily="34" charset="0"/>
                          <a:ea typeface="Segoe UI" pitchFamily="34" charset="-122"/>
                          <a:cs typeface="Segoe UI" pitchFamily="34" charset="-120"/>
                        </a:rPr>
                        <a:t>Task</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Owner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Manual assign, sub-tasks, 4-state board, archive</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5</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b="1" dirty="0">
                          <a:solidFill>
                            <a:srgbClr val="18181B"/>
                          </a:solidFill>
                          <a:latin typeface="Segoe UI" pitchFamily="34" charset="0"/>
                          <a:ea typeface="Segoe UI" pitchFamily="34" charset="-122"/>
                          <a:cs typeface="Segoe UI" pitchFamily="34" charset="-120"/>
                        </a:rPr>
                        <a:t>Attendance</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Owner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Records calendar, edit clock time, approvals</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6</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b="1" dirty="0">
                          <a:solidFill>
                            <a:srgbClr val="18181B"/>
                          </a:solidFill>
                          <a:latin typeface="Segoe UI" pitchFamily="34" charset="0"/>
                          <a:ea typeface="Segoe UI" pitchFamily="34" charset="-122"/>
                          <a:cs typeface="Segoe UI" pitchFamily="34" charset="-120"/>
                        </a:rPr>
                        <a:t>Communication</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Owner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Announcement scope, message threads</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lgn="ctr">
                        <a:buNone/>
                      </a:pPr>
                      <a:r>
                        <a:rPr lang="en-US" sz="1050" dirty="0">
                          <a:solidFill>
                            <a:srgbClr val="374151"/>
                          </a:solidFill>
                          <a:latin typeface="Segoe UI" pitchFamily="34" charset="0"/>
                          <a:ea typeface="Segoe UI" pitchFamily="34" charset="-122"/>
                          <a:cs typeface="Segoe UI" pitchFamily="34" charset="-120"/>
                        </a:rPr>
                        <a:t>7</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b="1" dirty="0">
                          <a:solidFill>
                            <a:srgbClr val="18181B"/>
                          </a:solidFill>
                          <a:latin typeface="Segoe UI" pitchFamily="34" charset="0"/>
                          <a:ea typeface="Segoe UI" pitchFamily="34" charset="-122"/>
                          <a:cs typeface="Segoe UI" pitchFamily="34" charset="-120"/>
                        </a:rPr>
                        <a:t>Report</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Owner</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1050" dirty="0">
                          <a:solidFill>
                            <a:srgbClr val="374151"/>
                          </a:solidFill>
                          <a:latin typeface="Segoe UI" pitchFamily="34" charset="0"/>
                          <a:ea typeface="Segoe UI" pitchFamily="34" charset="-122"/>
                          <a:cs typeface="Segoe UI" pitchFamily="34" charset="-120"/>
                        </a:rPr>
                        <a:t>Page structure, chart types</a:t>
                      </a: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endParaRPr lang="en-US" sz="1050" dirty="0">
                        <a:latin typeface="Segoe UI" charset="0"/>
                        <a:ea typeface="Segoe UI" charset="0"/>
                        <a:cs typeface="Segoe UI" charset="0"/>
                      </a:endParaRPr>
                    </a:p>
                  </a:txBody>
                  <a:tcPr marL="82296" marR="82296"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Shape 5"/>
          <p:cNvSpPr/>
          <p:nvPr/>
        </p:nvSpPr>
        <p:spPr>
          <a:xfrm>
            <a:off x="8522208" y="1737360"/>
            <a:ext cx="10973" cy="4160520"/>
          </a:xfrm>
          <a:prstGeom prst="rect">
            <a:avLst/>
          </a:prstGeom>
          <a:solidFill>
            <a:srgbClr val="E5E7EB"/>
          </a:solidFill>
          <a:ln/>
        </p:spPr>
      </p:sp>
      <p:sp>
        <p:nvSpPr>
          <p:cNvPr id="9" name="Text 6"/>
          <p:cNvSpPr/>
          <p:nvPr/>
        </p:nvSpPr>
        <p:spPr>
          <a:xfrm>
            <a:off x="8851392" y="1719072"/>
            <a:ext cx="2834640" cy="274320"/>
          </a:xfrm>
          <a:prstGeom prst="rect">
            <a:avLst/>
          </a:prstGeom>
          <a:noFill/>
          <a:ln/>
        </p:spPr>
        <p:txBody>
          <a:bodyPr wrap="square" rtlCol="0" anchor="ctr"/>
          <a:lstStyle/>
          <a:p>
            <a:pPr marL="0" indent="0">
              <a:buNone/>
            </a:pPr>
            <a:r>
              <a:rPr lang="en-US" sz="1200" b="1" kern="0" spc="120" dirty="0">
                <a:solidFill>
                  <a:srgbClr val="F97316"/>
                </a:solidFill>
                <a:latin typeface="Segoe UI" pitchFamily="34" charset="0"/>
                <a:ea typeface="Segoe UI" pitchFamily="34" charset="-122"/>
                <a:cs typeface="Segoe UI" pitchFamily="34" charset="-120"/>
              </a:rPr>
              <a:t>PART 2  </a:t>
            </a:r>
            <a:r>
              <a:rPr lang="en-US" sz="1200" b="1" kern="0" spc="120" dirty="0">
                <a:solidFill>
                  <a:srgbClr val="9CA3AF"/>
                </a:solidFill>
                <a:latin typeface="Segoe UI" pitchFamily="34" charset="0"/>
                <a:ea typeface="Segoe UI" pitchFamily="34" charset="-122"/>
                <a:cs typeface="Segoe UI" pitchFamily="34" charset="-120"/>
              </a:rPr>
              <a:t>The Storyline</a:t>
            </a:r>
            <a:endParaRPr lang="en-US" sz="1200" dirty="0"/>
          </a:p>
        </p:txBody>
      </p:sp>
      <p:sp>
        <p:nvSpPr>
          <p:cNvPr id="10" name="Text 7"/>
          <p:cNvSpPr/>
          <p:nvPr/>
        </p:nvSpPr>
        <p:spPr>
          <a:xfrm>
            <a:off x="8851392" y="1997964"/>
            <a:ext cx="2953959" cy="310896"/>
          </a:xfrm>
          <a:prstGeom prst="rect">
            <a:avLst/>
          </a:prstGeom>
          <a:noFill/>
          <a:ln/>
        </p:spPr>
        <p:txBody>
          <a:bodyPr wrap="square" rtlCol="0" anchor="ctr"/>
          <a:lstStyle/>
          <a:p>
            <a:pPr marL="0" indent="0">
              <a:lnSpc>
                <a:spcPct val="120000"/>
              </a:lnSpc>
              <a:buNone/>
            </a:pPr>
            <a:r>
              <a:rPr lang="en-US" sz="1200" dirty="0">
                <a:solidFill>
                  <a:srgbClr val="6B7280"/>
                </a:solidFill>
                <a:latin typeface="Segoe UI" pitchFamily="34" charset="0"/>
                <a:ea typeface="Segoe UI" pitchFamily="34" charset="-122"/>
                <a:cs typeface="Segoe UI" pitchFamily="34" charset="-120"/>
              </a:rPr>
              <a:t>One real business flow, across four roles.</a:t>
            </a:r>
            <a:endParaRPr lang="en-US" sz="1200" dirty="0"/>
          </a:p>
        </p:txBody>
      </p:sp>
      <p:sp>
        <p:nvSpPr>
          <p:cNvPr id="11" name="Shape 8"/>
          <p:cNvSpPr/>
          <p:nvPr/>
        </p:nvSpPr>
        <p:spPr>
          <a:xfrm>
            <a:off x="8898941" y="2414016"/>
            <a:ext cx="182880" cy="182880"/>
          </a:xfrm>
          <a:prstGeom prst="ellipse">
            <a:avLst/>
          </a:prstGeom>
          <a:solidFill>
            <a:srgbClr val="FED7AA"/>
          </a:solidFill>
          <a:ln w="12700">
            <a:solidFill>
              <a:srgbClr val="F97316"/>
            </a:solidFill>
            <a:prstDash val="solid"/>
          </a:ln>
        </p:spPr>
      </p:sp>
      <p:sp>
        <p:nvSpPr>
          <p:cNvPr id="12" name="Shape 9"/>
          <p:cNvSpPr/>
          <p:nvPr/>
        </p:nvSpPr>
        <p:spPr>
          <a:xfrm>
            <a:off x="8990381" y="2596896"/>
            <a:ext cx="0" cy="265176"/>
          </a:xfrm>
          <a:prstGeom prst="line">
            <a:avLst/>
          </a:prstGeom>
          <a:noFill/>
          <a:ln w="19050">
            <a:solidFill>
              <a:srgbClr val="FED7AA"/>
            </a:solidFill>
            <a:prstDash val="solid"/>
          </a:ln>
        </p:spPr>
      </p:sp>
      <p:sp>
        <p:nvSpPr>
          <p:cNvPr id="13" name="Text 10"/>
          <p:cNvSpPr/>
          <p:nvPr/>
        </p:nvSpPr>
        <p:spPr>
          <a:xfrm>
            <a:off x="9209837" y="2363724"/>
            <a:ext cx="2377440" cy="274320"/>
          </a:xfrm>
          <a:prstGeom prst="rect">
            <a:avLst/>
          </a:prstGeom>
          <a:noFill/>
          <a:ln/>
        </p:spPr>
        <p:txBody>
          <a:bodyPr wrap="square" rtlCol="0" anchor="ctr"/>
          <a:lstStyle/>
          <a:p>
            <a:pPr marL="0" indent="0">
              <a:buNone/>
            </a:pPr>
            <a:r>
              <a:rPr lang="en-US" sz="1250" dirty="0">
                <a:solidFill>
                  <a:srgbClr val="18181B"/>
                </a:solidFill>
                <a:latin typeface="Segoe UI" pitchFamily="34" charset="0"/>
                <a:ea typeface="Segoe UI" pitchFamily="34" charset="-122"/>
                <a:cs typeface="Segoe UI" pitchFamily="34" charset="-120"/>
              </a:rPr>
              <a:t>Post a job</a:t>
            </a:r>
            <a:endParaRPr lang="en-US" sz="1250" dirty="0"/>
          </a:p>
        </p:txBody>
      </p:sp>
      <p:sp>
        <p:nvSpPr>
          <p:cNvPr id="14" name="Shape 11"/>
          <p:cNvSpPr/>
          <p:nvPr/>
        </p:nvSpPr>
        <p:spPr>
          <a:xfrm>
            <a:off x="8898941" y="2862072"/>
            <a:ext cx="182880" cy="182880"/>
          </a:xfrm>
          <a:prstGeom prst="ellipse">
            <a:avLst/>
          </a:prstGeom>
          <a:solidFill>
            <a:srgbClr val="FED7AA"/>
          </a:solidFill>
          <a:ln w="12700">
            <a:solidFill>
              <a:srgbClr val="F97316"/>
            </a:solidFill>
            <a:prstDash val="solid"/>
          </a:ln>
        </p:spPr>
      </p:sp>
      <p:sp>
        <p:nvSpPr>
          <p:cNvPr id="15" name="Shape 12"/>
          <p:cNvSpPr/>
          <p:nvPr/>
        </p:nvSpPr>
        <p:spPr>
          <a:xfrm>
            <a:off x="8990381" y="3044952"/>
            <a:ext cx="0" cy="265176"/>
          </a:xfrm>
          <a:prstGeom prst="line">
            <a:avLst/>
          </a:prstGeom>
          <a:noFill/>
          <a:ln w="19050">
            <a:solidFill>
              <a:srgbClr val="FED7AA"/>
            </a:solidFill>
            <a:prstDash val="solid"/>
          </a:ln>
        </p:spPr>
      </p:sp>
      <p:sp>
        <p:nvSpPr>
          <p:cNvPr id="16" name="Text 13"/>
          <p:cNvSpPr/>
          <p:nvPr/>
        </p:nvSpPr>
        <p:spPr>
          <a:xfrm>
            <a:off x="9209837" y="2811780"/>
            <a:ext cx="2377440" cy="274320"/>
          </a:xfrm>
          <a:prstGeom prst="rect">
            <a:avLst/>
          </a:prstGeom>
          <a:noFill/>
          <a:ln/>
        </p:spPr>
        <p:txBody>
          <a:bodyPr wrap="square" rtlCol="0" anchor="ctr"/>
          <a:lstStyle/>
          <a:p>
            <a:pPr marL="0" indent="0">
              <a:buNone/>
            </a:pPr>
            <a:r>
              <a:rPr lang="en-US" sz="1250" dirty="0">
                <a:solidFill>
                  <a:srgbClr val="18181B"/>
                </a:solidFill>
                <a:latin typeface="Segoe UI" pitchFamily="34" charset="0"/>
                <a:ea typeface="Segoe UI" pitchFamily="34" charset="-122"/>
                <a:cs typeface="Segoe UI" pitchFamily="34" charset="-120"/>
              </a:rPr>
              <a:t>Hire</a:t>
            </a:r>
            <a:endParaRPr lang="en-US" sz="1250" dirty="0"/>
          </a:p>
        </p:txBody>
      </p:sp>
      <p:sp>
        <p:nvSpPr>
          <p:cNvPr id="17" name="Shape 14"/>
          <p:cNvSpPr/>
          <p:nvPr/>
        </p:nvSpPr>
        <p:spPr>
          <a:xfrm>
            <a:off x="8898941" y="3310128"/>
            <a:ext cx="182880" cy="182880"/>
          </a:xfrm>
          <a:prstGeom prst="ellipse">
            <a:avLst/>
          </a:prstGeom>
          <a:solidFill>
            <a:srgbClr val="FED7AA"/>
          </a:solidFill>
          <a:ln w="12700">
            <a:solidFill>
              <a:srgbClr val="F97316"/>
            </a:solidFill>
            <a:prstDash val="solid"/>
          </a:ln>
        </p:spPr>
      </p:sp>
      <p:sp>
        <p:nvSpPr>
          <p:cNvPr id="18" name="Shape 15"/>
          <p:cNvSpPr/>
          <p:nvPr/>
        </p:nvSpPr>
        <p:spPr>
          <a:xfrm>
            <a:off x="8990381" y="3493008"/>
            <a:ext cx="0" cy="265176"/>
          </a:xfrm>
          <a:prstGeom prst="line">
            <a:avLst/>
          </a:prstGeom>
          <a:noFill/>
          <a:ln w="19050">
            <a:solidFill>
              <a:srgbClr val="FED7AA"/>
            </a:solidFill>
            <a:prstDash val="solid"/>
          </a:ln>
        </p:spPr>
      </p:sp>
      <p:sp>
        <p:nvSpPr>
          <p:cNvPr id="19" name="Text 16"/>
          <p:cNvSpPr/>
          <p:nvPr/>
        </p:nvSpPr>
        <p:spPr>
          <a:xfrm>
            <a:off x="9209837" y="3259836"/>
            <a:ext cx="2377440" cy="274320"/>
          </a:xfrm>
          <a:prstGeom prst="rect">
            <a:avLst/>
          </a:prstGeom>
          <a:noFill/>
          <a:ln/>
        </p:spPr>
        <p:txBody>
          <a:bodyPr wrap="square" rtlCol="0" anchor="ctr"/>
          <a:lstStyle/>
          <a:p>
            <a:pPr marL="0" indent="0">
              <a:buNone/>
            </a:pPr>
            <a:r>
              <a:rPr lang="en-US" sz="1250" dirty="0">
                <a:solidFill>
                  <a:srgbClr val="18181B"/>
                </a:solidFill>
                <a:latin typeface="Segoe UI" pitchFamily="34" charset="0"/>
                <a:ea typeface="Segoe UI" pitchFamily="34" charset="-122"/>
                <a:cs typeface="Segoe UI" pitchFamily="34" charset="-120"/>
              </a:rPr>
              <a:t>Schedule</a:t>
            </a:r>
            <a:endParaRPr lang="en-US" sz="1250" dirty="0"/>
          </a:p>
        </p:txBody>
      </p:sp>
      <p:sp>
        <p:nvSpPr>
          <p:cNvPr id="20" name="Shape 17"/>
          <p:cNvSpPr/>
          <p:nvPr/>
        </p:nvSpPr>
        <p:spPr>
          <a:xfrm>
            <a:off x="8898941" y="3758184"/>
            <a:ext cx="182880" cy="182880"/>
          </a:xfrm>
          <a:prstGeom prst="ellipse">
            <a:avLst/>
          </a:prstGeom>
          <a:solidFill>
            <a:srgbClr val="FED7AA"/>
          </a:solidFill>
          <a:ln w="12700">
            <a:solidFill>
              <a:srgbClr val="F97316"/>
            </a:solidFill>
            <a:prstDash val="solid"/>
          </a:ln>
        </p:spPr>
      </p:sp>
      <p:sp>
        <p:nvSpPr>
          <p:cNvPr id="21" name="Shape 18"/>
          <p:cNvSpPr/>
          <p:nvPr/>
        </p:nvSpPr>
        <p:spPr>
          <a:xfrm>
            <a:off x="8990381" y="3941064"/>
            <a:ext cx="0" cy="265176"/>
          </a:xfrm>
          <a:prstGeom prst="line">
            <a:avLst/>
          </a:prstGeom>
          <a:noFill/>
          <a:ln w="19050">
            <a:solidFill>
              <a:srgbClr val="FED7AA"/>
            </a:solidFill>
            <a:prstDash val="solid"/>
          </a:ln>
        </p:spPr>
      </p:sp>
      <p:sp>
        <p:nvSpPr>
          <p:cNvPr id="22" name="Text 19"/>
          <p:cNvSpPr/>
          <p:nvPr/>
        </p:nvSpPr>
        <p:spPr>
          <a:xfrm>
            <a:off x="9209837" y="3707892"/>
            <a:ext cx="2377440" cy="274320"/>
          </a:xfrm>
          <a:prstGeom prst="rect">
            <a:avLst/>
          </a:prstGeom>
          <a:noFill/>
          <a:ln/>
        </p:spPr>
        <p:txBody>
          <a:bodyPr wrap="square" rtlCol="0" anchor="ctr"/>
          <a:lstStyle/>
          <a:p>
            <a:pPr marL="0" indent="0">
              <a:buNone/>
            </a:pPr>
            <a:r>
              <a:rPr lang="en-US" sz="1250" dirty="0">
                <a:solidFill>
                  <a:srgbClr val="18181B"/>
                </a:solidFill>
                <a:latin typeface="Segoe UI" pitchFamily="34" charset="0"/>
                <a:ea typeface="Segoe UI" pitchFamily="34" charset="-122"/>
                <a:cs typeface="Segoe UI" pitchFamily="34" charset="-120"/>
              </a:rPr>
              <a:t>Assign work</a:t>
            </a:r>
            <a:endParaRPr lang="en-US" sz="1250" dirty="0"/>
          </a:p>
        </p:txBody>
      </p:sp>
      <p:sp>
        <p:nvSpPr>
          <p:cNvPr id="23" name="Shape 20"/>
          <p:cNvSpPr/>
          <p:nvPr/>
        </p:nvSpPr>
        <p:spPr>
          <a:xfrm>
            <a:off x="8898941" y="4206240"/>
            <a:ext cx="182880" cy="182880"/>
          </a:xfrm>
          <a:prstGeom prst="ellipse">
            <a:avLst/>
          </a:prstGeom>
          <a:solidFill>
            <a:srgbClr val="FED7AA"/>
          </a:solidFill>
          <a:ln w="12700">
            <a:solidFill>
              <a:srgbClr val="F97316"/>
            </a:solidFill>
            <a:prstDash val="solid"/>
          </a:ln>
        </p:spPr>
      </p:sp>
      <p:sp>
        <p:nvSpPr>
          <p:cNvPr id="24" name="Shape 21"/>
          <p:cNvSpPr/>
          <p:nvPr/>
        </p:nvSpPr>
        <p:spPr>
          <a:xfrm>
            <a:off x="8990381" y="4389120"/>
            <a:ext cx="0" cy="265176"/>
          </a:xfrm>
          <a:prstGeom prst="line">
            <a:avLst/>
          </a:prstGeom>
          <a:noFill/>
          <a:ln w="19050">
            <a:solidFill>
              <a:srgbClr val="FED7AA"/>
            </a:solidFill>
            <a:prstDash val="solid"/>
          </a:ln>
        </p:spPr>
      </p:sp>
      <p:sp>
        <p:nvSpPr>
          <p:cNvPr id="25" name="Text 22"/>
          <p:cNvSpPr/>
          <p:nvPr/>
        </p:nvSpPr>
        <p:spPr>
          <a:xfrm>
            <a:off x="9209837" y="4155948"/>
            <a:ext cx="2377440" cy="274320"/>
          </a:xfrm>
          <a:prstGeom prst="rect">
            <a:avLst/>
          </a:prstGeom>
          <a:noFill/>
          <a:ln/>
        </p:spPr>
        <p:txBody>
          <a:bodyPr wrap="square" rtlCol="0" anchor="ctr"/>
          <a:lstStyle/>
          <a:p>
            <a:pPr marL="0" indent="0">
              <a:buNone/>
            </a:pPr>
            <a:r>
              <a:rPr lang="en-US" sz="1250" dirty="0">
                <a:solidFill>
                  <a:srgbClr val="18181B"/>
                </a:solidFill>
                <a:latin typeface="Segoe UI" pitchFamily="34" charset="0"/>
                <a:ea typeface="Segoe UI" pitchFamily="34" charset="-122"/>
                <a:cs typeface="Segoe UI" pitchFamily="34" charset="-120"/>
              </a:rPr>
              <a:t>Execute</a:t>
            </a:r>
            <a:endParaRPr lang="en-US" sz="1250" dirty="0"/>
          </a:p>
        </p:txBody>
      </p:sp>
      <p:sp>
        <p:nvSpPr>
          <p:cNvPr id="26" name="Shape 23"/>
          <p:cNvSpPr/>
          <p:nvPr/>
        </p:nvSpPr>
        <p:spPr>
          <a:xfrm>
            <a:off x="8898941" y="4654296"/>
            <a:ext cx="182880" cy="182880"/>
          </a:xfrm>
          <a:prstGeom prst="ellipse">
            <a:avLst/>
          </a:prstGeom>
          <a:solidFill>
            <a:srgbClr val="FED7AA"/>
          </a:solidFill>
          <a:ln w="12700">
            <a:solidFill>
              <a:srgbClr val="F97316"/>
            </a:solidFill>
            <a:prstDash val="solid"/>
          </a:ln>
        </p:spPr>
      </p:sp>
      <p:sp>
        <p:nvSpPr>
          <p:cNvPr id="27" name="Shape 24"/>
          <p:cNvSpPr/>
          <p:nvPr/>
        </p:nvSpPr>
        <p:spPr>
          <a:xfrm>
            <a:off x="8990381" y="4837176"/>
            <a:ext cx="0" cy="265176"/>
          </a:xfrm>
          <a:prstGeom prst="line">
            <a:avLst/>
          </a:prstGeom>
          <a:noFill/>
          <a:ln w="19050">
            <a:solidFill>
              <a:srgbClr val="FED7AA"/>
            </a:solidFill>
            <a:prstDash val="solid"/>
          </a:ln>
        </p:spPr>
      </p:sp>
      <p:sp>
        <p:nvSpPr>
          <p:cNvPr id="28" name="Text 25"/>
          <p:cNvSpPr/>
          <p:nvPr/>
        </p:nvSpPr>
        <p:spPr>
          <a:xfrm>
            <a:off x="9209837" y="4604004"/>
            <a:ext cx="2377440" cy="274320"/>
          </a:xfrm>
          <a:prstGeom prst="rect">
            <a:avLst/>
          </a:prstGeom>
          <a:noFill/>
          <a:ln/>
        </p:spPr>
        <p:txBody>
          <a:bodyPr wrap="square" rtlCol="0" anchor="ctr"/>
          <a:lstStyle/>
          <a:p>
            <a:pPr marL="0" indent="0">
              <a:buNone/>
            </a:pPr>
            <a:r>
              <a:rPr lang="en-US" sz="1250" dirty="0">
                <a:solidFill>
                  <a:srgbClr val="18181B"/>
                </a:solidFill>
                <a:latin typeface="Segoe UI" pitchFamily="34" charset="0"/>
                <a:ea typeface="Segoe UI" pitchFamily="34" charset="-122"/>
                <a:cs typeface="Segoe UI" pitchFamily="34" charset="-120"/>
              </a:rPr>
              <a:t>Clock in</a:t>
            </a:r>
            <a:endParaRPr lang="en-US" sz="1250" dirty="0"/>
          </a:p>
        </p:txBody>
      </p:sp>
      <p:sp>
        <p:nvSpPr>
          <p:cNvPr id="29" name="Shape 26"/>
          <p:cNvSpPr/>
          <p:nvPr/>
        </p:nvSpPr>
        <p:spPr>
          <a:xfrm>
            <a:off x="8898941" y="5102352"/>
            <a:ext cx="182880" cy="182880"/>
          </a:xfrm>
          <a:prstGeom prst="ellipse">
            <a:avLst/>
          </a:prstGeom>
          <a:solidFill>
            <a:srgbClr val="F97316"/>
          </a:solidFill>
          <a:ln w="12700">
            <a:solidFill>
              <a:srgbClr val="F97316"/>
            </a:solidFill>
            <a:prstDash val="solid"/>
          </a:ln>
        </p:spPr>
      </p:sp>
      <p:sp>
        <p:nvSpPr>
          <p:cNvPr id="30" name="Text 27"/>
          <p:cNvSpPr/>
          <p:nvPr/>
        </p:nvSpPr>
        <p:spPr>
          <a:xfrm>
            <a:off x="9209837" y="5052060"/>
            <a:ext cx="2377440" cy="274320"/>
          </a:xfrm>
          <a:prstGeom prst="rect">
            <a:avLst/>
          </a:prstGeom>
          <a:noFill/>
          <a:ln/>
        </p:spPr>
        <p:txBody>
          <a:bodyPr wrap="square" rtlCol="0" anchor="ctr"/>
          <a:lstStyle/>
          <a:p>
            <a:pPr marL="0" indent="0">
              <a:buNone/>
            </a:pPr>
            <a:r>
              <a:rPr lang="en-US" sz="1250" dirty="0">
                <a:solidFill>
                  <a:srgbClr val="18181B"/>
                </a:solidFill>
                <a:latin typeface="Segoe UI" pitchFamily="34" charset="0"/>
                <a:ea typeface="Segoe UI" pitchFamily="34" charset="-122"/>
                <a:cs typeface="Segoe UI" pitchFamily="34" charset="-120"/>
              </a:rPr>
              <a:t>Review</a:t>
            </a:r>
            <a:endParaRPr lang="en-US" sz="1250" dirty="0"/>
          </a:p>
        </p:txBody>
      </p:sp>
      <p:sp>
        <p:nvSpPr>
          <p:cNvPr id="31" name="Shape 28"/>
          <p:cNvSpPr/>
          <p:nvPr/>
        </p:nvSpPr>
        <p:spPr>
          <a:xfrm>
            <a:off x="8844077" y="5705856"/>
            <a:ext cx="2743200" cy="841248"/>
          </a:xfrm>
          <a:prstGeom prst="roundRect">
            <a:avLst>
              <a:gd name="adj" fmla="val 6522"/>
            </a:avLst>
          </a:prstGeom>
          <a:solidFill>
            <a:srgbClr val="FFF7ED"/>
          </a:solidFill>
          <a:ln w="12700">
            <a:solidFill>
              <a:srgbClr val="FED7AA"/>
            </a:solidFill>
            <a:prstDash val="solid"/>
          </a:ln>
        </p:spPr>
      </p:sp>
      <p:sp>
        <p:nvSpPr>
          <p:cNvPr id="32" name="Text 29"/>
          <p:cNvSpPr/>
          <p:nvPr/>
        </p:nvSpPr>
        <p:spPr>
          <a:xfrm>
            <a:off x="9008669" y="5705856"/>
            <a:ext cx="2432304" cy="841248"/>
          </a:xfrm>
          <a:prstGeom prst="rect">
            <a:avLst/>
          </a:prstGeom>
          <a:noFill/>
          <a:ln/>
        </p:spPr>
        <p:txBody>
          <a:bodyPr wrap="square" rtlCol="0" anchor="ctr"/>
          <a:lstStyle/>
          <a:p>
            <a:pPr marL="0" indent="0">
              <a:lnSpc>
                <a:spcPct val="125000"/>
              </a:lnSpc>
              <a:buNone/>
            </a:pPr>
            <a:r>
              <a:rPr lang="en-US" sz="1100" dirty="0">
                <a:solidFill>
                  <a:srgbClr val="C2410C"/>
                </a:solidFill>
                <a:latin typeface="Segoe UI" pitchFamily="34" charset="0"/>
                <a:ea typeface="Segoe UI" pitchFamily="34" charset="-122"/>
                <a:cs typeface="Segoe UI" pitchFamily="34" charset="-120"/>
              </a:rPr>
              <a:t>Goal: understand how roles hand off work and how permissions take effect.</a:t>
            </a:r>
            <a:endParaRPr lang="en-US" sz="11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850</Words>
  <Application>Microsoft Office PowerPoint</Application>
  <PresentationFormat>Widescreen</PresentationFormat>
  <Paragraphs>186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Tasking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Tasking — User Tutorial</dc:title>
  <dc:subject>PptxGenJS Presentation</dc:subject>
  <dc:creator>FYP-26-S2-35</dc:creator>
  <cp:lastModifiedBy>Pei Shuai Cheng</cp:lastModifiedBy>
  <cp:revision>2</cp:revision>
  <dcterms:created xsi:type="dcterms:W3CDTF">2026-08-12T05:11:14Z</dcterms:created>
  <dcterms:modified xsi:type="dcterms:W3CDTF">2026-08-12T06:26:31Z</dcterms:modified>
</cp:coreProperties>
</file>